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875520" y="496976"/>
            <a:ext cx="320040" cy="57607"/>
          </a:xfrm>
          <a:prstGeom prst="rect">
            <a:avLst/>
          </a:prstGeom>
          <a:solidFill>
            <a:srgbClr val="F5C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6736" y="365760"/>
            <a:ext cx="57607" cy="320040"/>
          </a:xfrm>
          <a:prstGeom prst="rect">
            <a:avLst/>
          </a:prstGeom>
          <a:solidFill>
            <a:srgbClr val="F5C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00" y="1088318"/>
            <a:ext cx="201168" cy="36210"/>
          </a:xfrm>
          <a:prstGeom prst="rect">
            <a:avLst/>
          </a:prstGeom>
          <a:solidFill>
            <a:srgbClr val="F5C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55278" y="1005840"/>
            <a:ext cx="36210" cy="201168"/>
          </a:xfrm>
          <a:prstGeom prst="rect">
            <a:avLst/>
          </a:prstGeom>
          <a:solidFill>
            <a:srgbClr val="F5C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15600" y="1896282"/>
            <a:ext cx="164592" cy="29626"/>
          </a:xfrm>
          <a:prstGeom prst="rect">
            <a:avLst/>
          </a:prstGeom>
          <a:solidFill>
            <a:srgbClr val="F5C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83082" y="1828800"/>
            <a:ext cx="29626" cy="164592"/>
          </a:xfrm>
          <a:prstGeom prst="rect">
            <a:avLst/>
          </a:prstGeom>
          <a:solidFill>
            <a:srgbClr val="F5C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5378500"/>
            <a:ext cx="182880" cy="32918"/>
          </a:xfrm>
          <a:prstGeom prst="rect">
            <a:avLst/>
          </a:prstGeom>
          <a:solidFill>
            <a:srgbClr val="F5C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9300" y="5303520"/>
            <a:ext cx="32918" cy="182880"/>
          </a:xfrm>
          <a:prstGeom prst="rect">
            <a:avLst/>
          </a:prstGeom>
          <a:solidFill>
            <a:srgbClr val="F5C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371600" y="6274155"/>
            <a:ext cx="137160" cy="24688"/>
          </a:xfrm>
          <a:prstGeom prst="rect">
            <a:avLst/>
          </a:prstGeom>
          <a:solidFill>
            <a:srgbClr val="F5C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427835" y="6217920"/>
            <a:ext cx="24688" cy="137160"/>
          </a:xfrm>
          <a:prstGeom prst="rect">
            <a:avLst/>
          </a:prstGeom>
          <a:solidFill>
            <a:srgbClr val="F5C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0" y="5122926"/>
            <a:ext cx="228600" cy="41148"/>
          </a:xfrm>
          <a:prstGeom prst="rect">
            <a:avLst/>
          </a:prstGeom>
          <a:solidFill>
            <a:srgbClr val="F5C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523726" y="5029200"/>
            <a:ext cx="41148" cy="228600"/>
          </a:xfrm>
          <a:prstGeom prst="rect">
            <a:avLst/>
          </a:prstGeom>
          <a:solidFill>
            <a:srgbClr val="F5C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F5C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26880" y="-914400"/>
            <a:ext cx="4114800" cy="4114800"/>
          </a:xfrm>
          <a:prstGeom prst="ellipse">
            <a:avLst/>
          </a:prstGeom>
          <a:solidFill>
            <a:srgbClr val="162044"/>
          </a:solidFill>
          <a:ln w="25400">
            <a:solidFill>
              <a:srgbClr val="F5C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1280160"/>
            <a:ext cx="3657600" cy="4114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C430"/>
                </a:solidFill>
                <a:latin typeface="Calibri"/>
              </a:rPr>
              <a:t>51TALK EGYPT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1737360"/>
            <a:ext cx="9144000" cy="11887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Calibri"/>
              </a:rPr>
              <a:t>Work Review Report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2880360"/>
            <a:ext cx="8229600" cy="594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F5C430"/>
                </a:solidFill>
                <a:latin typeface="Calibri"/>
              </a:rPr>
              <a:t>Probation Period Review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611880"/>
            <a:ext cx="5486400" cy="38100"/>
          </a:xfrm>
          <a:prstGeom prst="rect">
            <a:avLst/>
          </a:prstGeom>
          <a:solidFill>
            <a:srgbClr val="F5C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88620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Ahmed Al-Sadeq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343400"/>
            <a:ext cx="6400800" cy="4114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B0BEC5"/>
                </a:solidFill>
                <a:latin typeface="Calibri"/>
              </a:rPr>
              <a:t>HR Business Partner  |  51Talk Egypt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754880"/>
            <a:ext cx="6400800" cy="4114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EC5"/>
                </a:solidFill>
                <a:latin typeface="Calibri"/>
              </a:rPr>
              <a:t>December 9, 2025  –  March 9,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3657600" cy="34747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5C430"/>
                </a:solidFill>
                <a:latin typeface="Calibri"/>
              </a:rPr>
              <a:t>01  /  Self 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0972800" cy="65836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Who I Am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98448"/>
            <a:ext cx="11274552" cy="38100"/>
          </a:xfrm>
          <a:prstGeom prst="rect">
            <a:avLst/>
          </a:prstGeom>
          <a:solidFill>
            <a:srgbClr val="F5C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81328"/>
            <a:ext cx="4297680" cy="685800"/>
          </a:xfrm>
          <a:prstGeom prst="rect">
            <a:avLst/>
          </a:prstGeom>
          <a:solidFill>
            <a:srgbClr val="162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544828"/>
            <a:ext cx="4023360" cy="2560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C430"/>
                </a:solidFill>
                <a:latin typeface="Calibri"/>
              </a:rPr>
              <a:t>Date of Joining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786128"/>
            <a:ext cx="402336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December 9, 2025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58568"/>
            <a:ext cx="4297680" cy="685800"/>
          </a:xfrm>
          <a:prstGeom prst="rect">
            <a:avLst/>
          </a:prstGeom>
          <a:solidFill>
            <a:srgbClr val="162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322068"/>
            <a:ext cx="4023360" cy="2560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C430"/>
                </a:solidFill>
                <a:latin typeface="Calibri"/>
              </a:rPr>
              <a:t>Years of Experience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563368"/>
            <a:ext cx="402336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10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035808"/>
            <a:ext cx="4297680" cy="685800"/>
          </a:xfrm>
          <a:prstGeom prst="rect">
            <a:avLst/>
          </a:prstGeom>
          <a:solidFill>
            <a:srgbClr val="162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099308"/>
            <a:ext cx="4023360" cy="2560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C430"/>
                </a:solidFill>
                <a:latin typeface="Calibri"/>
              </a:rPr>
              <a:t>Current Role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340608"/>
            <a:ext cx="402336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HR Business Partner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813048"/>
            <a:ext cx="4297680" cy="685800"/>
          </a:xfrm>
          <a:prstGeom prst="rect">
            <a:avLst/>
          </a:prstGeom>
          <a:solidFill>
            <a:srgbClr val="162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876548"/>
            <a:ext cx="4023360" cy="2560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C430"/>
                </a:solidFill>
                <a:latin typeface="Calibri"/>
              </a:rPr>
              <a:t>Department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117848"/>
            <a:ext cx="402336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Human Resources — 51Talk Egypt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1481328"/>
            <a:ext cx="6583680" cy="34747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5C430"/>
                </a:solidFill>
                <a:latin typeface="Calibri"/>
              </a:rPr>
              <a:t>Professional Summary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1874519"/>
            <a:ext cx="6583680" cy="1417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BEC5"/>
                </a:solidFill>
                <a:latin typeface="Calibri"/>
              </a:rPr>
              <a:t>HR professional with 10 years of experience spanning all HR functions — from talent acquisition, onboarding, and employee relations to HR operations, legal compliance, and HR technology. Proven track record of managing high-volume HR operations, building systems that scale, and driving people-focused initiatives that create measurable business impact.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3401568"/>
            <a:ext cx="4572000" cy="34747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5C430"/>
                </a:solidFill>
                <a:latin typeface="Calibri"/>
              </a:rPr>
              <a:t>Key Responsibilities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0" y="3794760"/>
            <a:ext cx="6583680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▸  Employee lifecycle management (onboarding to offboarding)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640" y="4133088"/>
            <a:ext cx="6583680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▸  Employee relations and case management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0" y="4471416"/>
            <a:ext cx="6583680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▸  HR systems implementation and automation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4809744"/>
            <a:ext cx="6583680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▸  Legal compliance (social insurance, labor law)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5148072"/>
            <a:ext cx="6583680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▸  HR data, reporting, and dashboards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4572000" cy="34747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5C430"/>
                </a:solidFill>
                <a:latin typeface="Calibri"/>
              </a:rPr>
              <a:t>02  /  Performance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0972800" cy="65836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Impact at a Glance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98448"/>
            <a:ext cx="11274552" cy="38100"/>
          </a:xfrm>
          <a:prstGeom prst="rect">
            <a:avLst/>
          </a:prstGeom>
          <a:solidFill>
            <a:srgbClr val="F5C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81328"/>
            <a:ext cx="3657600" cy="1920240"/>
          </a:xfrm>
          <a:prstGeom prst="rect">
            <a:avLst/>
          </a:prstGeom>
          <a:solidFill>
            <a:srgbClr val="162044"/>
          </a:solidFill>
          <a:ln w="12700">
            <a:solidFill>
              <a:srgbClr val="F5C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3291840" cy="8686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5400" b="1">
                <a:solidFill>
                  <a:srgbClr val="F5C430"/>
                </a:solidFill>
                <a:latin typeface="Calibri"/>
              </a:rPr>
              <a:t>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329184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New Hires Onboarded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06624"/>
            <a:ext cx="3291840" cy="502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EC5"/>
                </a:solidFill>
                <a:latin typeface="Calibri"/>
              </a:rPr>
              <a:t>End-to-end onboarding for 100
employees within 3 months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1481328"/>
            <a:ext cx="3657600" cy="1920240"/>
          </a:xfrm>
          <a:prstGeom prst="rect">
            <a:avLst/>
          </a:prstGeom>
          <a:solidFill>
            <a:srgbClr val="162044"/>
          </a:solidFill>
          <a:ln w="12700">
            <a:solidFill>
              <a:srgbClr val="F5C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1572768"/>
            <a:ext cx="3291840" cy="8686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5400" b="1">
                <a:solidFill>
                  <a:srgbClr val="F5C430"/>
                </a:solidFill>
                <a:latin typeface="Calibri"/>
              </a:rPr>
              <a:t>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2377440"/>
            <a:ext cx="329184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ER Cases Handled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2706624"/>
            <a:ext cx="3291840" cy="502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EC5"/>
                </a:solidFill>
                <a:latin typeface="Calibri"/>
              </a:rPr>
              <a:t>Managed and resolved 50
employee relations cases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1481328"/>
            <a:ext cx="3657600" cy="1920240"/>
          </a:xfrm>
          <a:prstGeom prst="rect">
            <a:avLst/>
          </a:prstGeom>
          <a:solidFill>
            <a:srgbClr val="162044"/>
          </a:solidFill>
          <a:ln w="12700">
            <a:solidFill>
              <a:srgbClr val="F5C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1572768"/>
            <a:ext cx="3291840" cy="8686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5400" b="1">
                <a:solidFill>
                  <a:srgbClr val="F5C430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377440"/>
            <a:ext cx="329184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Legal &amp; Compliance Cases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706624"/>
            <a:ext cx="3291840" cy="502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EC5"/>
                </a:solidFill>
                <a:latin typeface="Calibri"/>
              </a:rPr>
              <a:t>1 social insurance investigation
2 re-hire violation cases resolved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611880"/>
            <a:ext cx="5623560" cy="2880360"/>
          </a:xfrm>
          <a:prstGeom prst="rect">
            <a:avLst/>
          </a:prstGeom>
          <a:solidFill>
            <a:srgbClr val="162044"/>
          </a:solidFill>
          <a:ln w="12700">
            <a:solidFill>
              <a:srgbClr val="F5C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703320"/>
            <a:ext cx="5212080" cy="7772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4600" b="1">
                <a:solidFill>
                  <a:srgbClr val="F5C430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407408"/>
            <a:ext cx="5212080" cy="34747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HR Systems Built &amp; Automated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773168"/>
            <a:ext cx="5212080" cy="1463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BEC5"/>
                </a:solidFill>
                <a:latin typeface="Calibri"/>
              </a:rPr>
              <a:t>• Leave Email Automation (Lark integration)
• Attendance &amp; HC Dashboard
• Live Quiz System (600+ concurrent players)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46520" y="3611880"/>
            <a:ext cx="5623560" cy="2880360"/>
          </a:xfrm>
          <a:prstGeom prst="rect">
            <a:avLst/>
          </a:prstGeom>
          <a:solidFill>
            <a:srgbClr val="162044"/>
          </a:solidFill>
          <a:ln w="12700">
            <a:solidFill>
              <a:srgbClr val="F5C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9400" y="3703320"/>
            <a:ext cx="5212080" cy="7772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4600" b="1">
                <a:solidFill>
                  <a:srgbClr val="F5C430"/>
                </a:solidFill>
                <a:latin typeface="Calibri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4407408"/>
            <a:ext cx="5212080" cy="34747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Major Initiative In Progress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4773168"/>
            <a:ext cx="5212080" cy="1463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BEC5"/>
                </a:solidFill>
                <a:latin typeface="Calibri"/>
              </a:rPr>
              <a:t>iTalent ESS Portal — transitioning leave management
from email to fully digital self-service system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4572000" cy="34747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5C430"/>
                </a:solidFill>
                <a:latin typeface="Calibri"/>
              </a:rPr>
              <a:t>03  /  Value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430000" cy="65836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Living the 51Talk Values — STAR Method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98448"/>
            <a:ext cx="11274552" cy="38100"/>
          </a:xfrm>
          <a:prstGeom prst="rect">
            <a:avLst/>
          </a:prstGeom>
          <a:solidFill>
            <a:srgbClr val="F5C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463040"/>
            <a:ext cx="5577840" cy="2468880"/>
          </a:xfrm>
          <a:prstGeom prst="rect">
            <a:avLst/>
          </a:prstGeom>
          <a:solidFill>
            <a:srgbClr val="162044"/>
          </a:solidFill>
          <a:ln w="1905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463040"/>
            <a:ext cx="5577840" cy="384048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526540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Game Changer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" y="1945640"/>
            <a:ext cx="256032" cy="27432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1945640"/>
            <a:ext cx="256032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1920240"/>
            <a:ext cx="5029200" cy="43891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BEC5"/>
                </a:solidFill>
                <a:latin typeface="Calibri"/>
              </a:rPr>
              <a:t>Leave management was fully email-based — slow and error-prone.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2439416"/>
            <a:ext cx="256032" cy="27432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439416"/>
            <a:ext cx="256032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414016"/>
            <a:ext cx="5029200" cy="43891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BEC5"/>
                </a:solidFill>
                <a:latin typeface="Calibri"/>
              </a:rPr>
              <a:t>Find and implement digital HR solutions proactively.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8" y="2933192"/>
            <a:ext cx="256032" cy="27432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2933192"/>
            <a:ext cx="256032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2907792"/>
            <a:ext cx="5029200" cy="43891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BEC5"/>
                </a:solidFill>
                <a:latin typeface="Calibri"/>
              </a:rPr>
              <a:t>Built Leave Automation, Attendance Dashboard &amp; iTalent implementation plan.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5488" y="3426968"/>
            <a:ext cx="256032" cy="27432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" y="3426968"/>
            <a:ext cx="256032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3401568"/>
            <a:ext cx="5029200" cy="43891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5C430"/>
                </a:solidFill>
                <a:latin typeface="Calibri"/>
              </a:rPr>
              <a:t>Reduced manual effort; laid foundation for a fully digital HR operation.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72200" y="1463040"/>
            <a:ext cx="5577840" cy="2468880"/>
          </a:xfrm>
          <a:prstGeom prst="rect">
            <a:avLst/>
          </a:prstGeom>
          <a:solidFill>
            <a:srgbClr val="162044"/>
          </a:solidFill>
          <a:ln w="19050">
            <a:solidFill>
              <a:srgbClr val="3D8E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1463040"/>
            <a:ext cx="5577840" cy="384048"/>
          </a:xfrm>
          <a:prstGeom prst="rect">
            <a:avLst/>
          </a:prstGeom>
          <a:solidFill>
            <a:srgbClr val="3D8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526540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Customer Focus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81928" y="1945640"/>
            <a:ext cx="256032" cy="274320"/>
          </a:xfrm>
          <a:prstGeom prst="rect">
            <a:avLst/>
          </a:prstGeom>
          <a:solidFill>
            <a:srgbClr val="3D8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81928" y="1945640"/>
            <a:ext cx="256032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11112" y="1920240"/>
            <a:ext cx="5029200" cy="43891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BEC5"/>
                </a:solidFill>
                <a:latin typeface="Calibri"/>
              </a:rPr>
              <a:t>51Talk Egypt needed structured onboarding to support rapid growth.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81928" y="2439416"/>
            <a:ext cx="256032" cy="274320"/>
          </a:xfrm>
          <a:prstGeom prst="rect">
            <a:avLst/>
          </a:prstGeom>
          <a:solidFill>
            <a:srgbClr val="3D8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81928" y="2439416"/>
            <a:ext cx="256032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11112" y="2414016"/>
            <a:ext cx="5029200" cy="43891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BEC5"/>
                </a:solidFill>
                <a:latin typeface="Calibri"/>
              </a:rPr>
              <a:t>Ensure every new hire has a smooth, consistent experience.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81928" y="2933192"/>
            <a:ext cx="256032" cy="274320"/>
          </a:xfrm>
          <a:prstGeom prst="rect">
            <a:avLst/>
          </a:prstGeom>
          <a:solidFill>
            <a:srgbClr val="3D8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81928" y="2933192"/>
            <a:ext cx="256032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11112" y="2907792"/>
            <a:ext cx="5029200" cy="43891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BEC5"/>
                </a:solidFill>
                <a:latin typeface="Calibri"/>
              </a:rPr>
              <a:t>Managed end-to-end onboarding for 100 employees in 3 months.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81928" y="3426968"/>
            <a:ext cx="256032" cy="274320"/>
          </a:xfrm>
          <a:prstGeom prst="rect">
            <a:avLst/>
          </a:prstGeom>
          <a:solidFill>
            <a:srgbClr val="3D8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81928" y="3426968"/>
            <a:ext cx="256032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11112" y="3401568"/>
            <a:ext cx="5029200" cy="43891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5C430"/>
                </a:solidFill>
                <a:latin typeface="Calibri"/>
              </a:rPr>
              <a:t>100 employees fully integrated — zero onboarding gaps reported.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4069080"/>
            <a:ext cx="5577840" cy="2468880"/>
          </a:xfrm>
          <a:prstGeom prst="rect">
            <a:avLst/>
          </a:prstGeom>
          <a:solidFill>
            <a:srgbClr val="162044"/>
          </a:solidFill>
          <a:ln w="19050">
            <a:solidFill>
              <a:srgbClr val="43A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65760" y="4069080"/>
            <a:ext cx="5577840" cy="384048"/>
          </a:xfrm>
          <a:prstGeom prst="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" y="4132580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Passion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5488" y="4551680"/>
            <a:ext cx="256032" cy="274320"/>
          </a:xfrm>
          <a:prstGeom prst="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5488" y="4551680"/>
            <a:ext cx="256032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4672" y="4526280"/>
            <a:ext cx="5029200" cy="43891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BEC5"/>
                </a:solidFill>
                <a:latin typeface="Calibri"/>
              </a:rPr>
              <a:t>ER cases demand time, sensitivity, and deep HR expertise.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75488" y="5045456"/>
            <a:ext cx="256032" cy="274320"/>
          </a:xfrm>
          <a:prstGeom prst="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5488" y="5045456"/>
            <a:ext cx="256032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4672" y="5020056"/>
            <a:ext cx="5029200" cy="43891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BEC5"/>
                </a:solidFill>
                <a:latin typeface="Calibri"/>
              </a:rPr>
              <a:t>Handle all cases professionally while maintaining employee trust.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75488" y="5539232"/>
            <a:ext cx="256032" cy="274320"/>
          </a:xfrm>
          <a:prstGeom prst="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5488" y="5539232"/>
            <a:ext cx="256032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4672" y="5513832"/>
            <a:ext cx="5029200" cy="43891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BEC5"/>
                </a:solidFill>
                <a:latin typeface="Calibri"/>
              </a:rPr>
              <a:t>Managed 50 ER cases with full documentation and fair investigation.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75488" y="6033008"/>
            <a:ext cx="256032" cy="274320"/>
          </a:xfrm>
          <a:prstGeom prst="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75488" y="6033008"/>
            <a:ext cx="256032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4672" y="6007608"/>
            <a:ext cx="5029200" cy="43891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5C430"/>
                </a:solidFill>
                <a:latin typeface="Calibri"/>
              </a:rPr>
              <a:t>All cases resolved within policy — workplace stability maintained.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72200" y="4069080"/>
            <a:ext cx="5577840" cy="2468880"/>
          </a:xfrm>
          <a:prstGeom prst="rect">
            <a:avLst/>
          </a:prstGeom>
          <a:solidFill>
            <a:srgbClr val="162044"/>
          </a:solidFill>
          <a:ln w="19050">
            <a:solidFill>
              <a:srgbClr val="F5C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72200" y="4069080"/>
            <a:ext cx="5577840" cy="384048"/>
          </a:xfrm>
          <a:prstGeom prst="rect">
            <a:avLst/>
          </a:prstGeom>
          <a:solidFill>
            <a:srgbClr val="F5C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9360" y="4132580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Teamwork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281928" y="4551680"/>
            <a:ext cx="256032" cy="274320"/>
          </a:xfrm>
          <a:prstGeom prst="rect">
            <a:avLst/>
          </a:prstGeom>
          <a:solidFill>
            <a:srgbClr val="F5C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281928" y="4551680"/>
            <a:ext cx="256032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611112" y="4526280"/>
            <a:ext cx="5029200" cy="43891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BEC5"/>
                </a:solidFill>
                <a:latin typeface="Calibri"/>
              </a:rPr>
              <a:t>Compliance cases required coordinated cross-functional effort.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81928" y="5045456"/>
            <a:ext cx="256032" cy="274320"/>
          </a:xfrm>
          <a:prstGeom prst="rect">
            <a:avLst/>
          </a:prstGeom>
          <a:solidFill>
            <a:srgbClr val="F5C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281928" y="5045456"/>
            <a:ext cx="256032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611112" y="5020056"/>
            <a:ext cx="5029200" cy="43891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BEC5"/>
                </a:solidFill>
                <a:latin typeface="Calibri"/>
              </a:rPr>
              <a:t>Navigate legal matters in collaboration with legal &amp; finance teams.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281928" y="5539232"/>
            <a:ext cx="256032" cy="274320"/>
          </a:xfrm>
          <a:prstGeom prst="rect">
            <a:avLst/>
          </a:prstGeom>
          <a:solidFill>
            <a:srgbClr val="F5C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281928" y="5539232"/>
            <a:ext cx="256032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611112" y="5513832"/>
            <a:ext cx="5029200" cy="43891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BEC5"/>
                </a:solidFill>
                <a:latin typeface="Calibri"/>
              </a:rPr>
              <a:t>Led 3 investigations, coordinating with legal and finance departments.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281928" y="6033008"/>
            <a:ext cx="256032" cy="274320"/>
          </a:xfrm>
          <a:prstGeom prst="rect">
            <a:avLst/>
          </a:prstGeom>
          <a:solidFill>
            <a:srgbClr val="F5C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281928" y="6033008"/>
            <a:ext cx="256032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611112" y="6007608"/>
            <a:ext cx="5029200" cy="43891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5C430"/>
                </a:solidFill>
                <a:latin typeface="Calibri"/>
              </a:rPr>
              <a:t>All cases resolved in full compliance with Egyptian labor law.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5486400" cy="34747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5C430"/>
                </a:solidFill>
                <a:latin typeface="Calibri"/>
              </a:rPr>
              <a:t>04  /  Gains, Losses &amp; Reflection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0972800" cy="65836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Looking Back — Honest Self-Assessment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98448"/>
            <a:ext cx="11274552" cy="38100"/>
          </a:xfrm>
          <a:prstGeom prst="rect">
            <a:avLst/>
          </a:prstGeom>
          <a:solidFill>
            <a:srgbClr val="F5C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463040"/>
            <a:ext cx="5486400" cy="5166360"/>
          </a:xfrm>
          <a:prstGeom prst="rect">
            <a:avLst/>
          </a:prstGeom>
          <a:solidFill>
            <a:srgbClr val="162044"/>
          </a:solidFill>
          <a:ln w="19050">
            <a:solidFill>
              <a:srgbClr val="43A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463040"/>
            <a:ext cx="5486400" cy="384048"/>
          </a:xfrm>
          <a:prstGeom prst="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508760"/>
            <a:ext cx="521208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✓  What I Gained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5120640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43A047"/>
                </a:solidFill>
                <a:latin typeface="Calibri"/>
              </a:rPr>
              <a:t>▸  Built team-scale solutions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86000"/>
            <a:ext cx="5120640" cy="38404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EC5"/>
                </a:solidFill>
                <a:latin typeface="Calibri"/>
              </a:rPr>
              <a:t>   Focused on tools that support the entire HR team, not just individual tasks.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34640"/>
            <a:ext cx="5120640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43A047"/>
                </a:solidFill>
                <a:latin typeface="Calibri"/>
              </a:rPr>
              <a:t>▸  Deepened industry expertise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127248"/>
            <a:ext cx="5120640" cy="38404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EC5"/>
                </a:solidFill>
                <a:latin typeface="Calibri"/>
              </a:rPr>
              <a:t>   Gained strong understanding of EdTech HR operations and 51Talk's business model.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675888"/>
            <a:ext cx="5120640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43A047"/>
                </a:solidFill>
                <a:latin typeface="Calibri"/>
              </a:rPr>
              <a:t>▸  Started learning Chinese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968496"/>
            <a:ext cx="5120640" cy="38404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EC5"/>
                </a:solidFill>
                <a:latin typeface="Calibri"/>
              </a:rPr>
              <a:t>   Investing in language skills to connect with the broader 51Talk organization.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517136"/>
            <a:ext cx="5120640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43A047"/>
                </a:solidFill>
                <a:latin typeface="Calibri"/>
              </a:rPr>
              <a:t>▸  Advanced AI &amp; automation skills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809744"/>
            <a:ext cx="5120640" cy="38404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EC5"/>
                </a:solidFill>
                <a:latin typeface="Calibri"/>
              </a:rPr>
              <a:t>   Leveraged AI tools to modernize HR workflows and build scalable systems.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1463040"/>
            <a:ext cx="5577840" cy="5166360"/>
          </a:xfrm>
          <a:prstGeom prst="rect">
            <a:avLst/>
          </a:prstGeom>
          <a:solidFill>
            <a:srgbClr val="162044"/>
          </a:solidFill>
          <a:ln w="19050">
            <a:solidFill>
              <a:srgbClr val="F5C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1463040"/>
            <a:ext cx="5577840" cy="384048"/>
          </a:xfrm>
          <a:prstGeom prst="rect">
            <a:avLst/>
          </a:prstGeom>
          <a:solidFill>
            <a:srgbClr val="F5C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508760"/>
            <a:ext cx="530352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2A5C"/>
                </a:solidFill>
                <a:latin typeface="Calibri"/>
              </a:rPr>
              <a:t>⟳  What I'd Do Differently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1993392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C430"/>
                </a:solidFill>
                <a:latin typeface="Calibri"/>
              </a:rPr>
              <a:t>▸  Accelerate knowledge acquisition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2286000"/>
            <a:ext cx="5303520" cy="43891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EC5"/>
                </a:solidFill>
                <a:latin typeface="Calibri"/>
              </a:rPr>
              <a:t>   I'd use a more structured approach to ramp up faster on systems, processes, and people.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862072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C430"/>
                </a:solidFill>
                <a:latin typeface="Calibri"/>
              </a:rPr>
              <a:t>▸  Build management trust earlier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154680"/>
            <a:ext cx="5303520" cy="43891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EC5"/>
                </a:solidFill>
                <a:latin typeface="Calibri"/>
              </a:rPr>
              <a:t>   I'd prioritize more frequent check-ins and proactive communication from day one.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730752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C430"/>
                </a:solidFill>
                <a:latin typeface="Calibri"/>
              </a:rPr>
              <a:t>▸  Implement systems sooner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023360"/>
            <a:ext cx="5303520" cy="43891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EC5"/>
                </a:solidFill>
                <a:latin typeface="Calibri"/>
              </a:rPr>
              <a:t>   The automation and iTalent projects showed clear value — earlier implementation means earlier impact.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4599432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C430"/>
                </a:solidFill>
                <a:latin typeface="Calibri"/>
              </a:rPr>
              <a:t>▸  Invest more in Chinese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892040"/>
            <a:ext cx="5303520" cy="43891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EC5"/>
                </a:solidFill>
                <a:latin typeface="Calibri"/>
              </a:rPr>
              <a:t>   Language learning is a priority I want to pursue more consistently going forward.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5486400" cy="34747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5C430"/>
                </a:solidFill>
                <a:latin typeface="Calibri"/>
              </a:rPr>
              <a:t>05  /  Next Stage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0972800" cy="65836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Looking Forward — Priorities &amp; Support Needed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98448"/>
            <a:ext cx="11274552" cy="38100"/>
          </a:xfrm>
          <a:prstGeom prst="rect">
            <a:avLst/>
          </a:prstGeom>
          <a:solidFill>
            <a:srgbClr val="F5C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4572000" cy="34747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5C430"/>
                </a:solidFill>
                <a:latin typeface="Calibri"/>
              </a:rPr>
              <a:t>Next Stage Priorities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945640"/>
            <a:ext cx="320040" cy="320040"/>
          </a:xfrm>
          <a:prstGeom prst="rect">
            <a:avLst/>
          </a:prstGeom>
          <a:solidFill>
            <a:srgbClr val="F5C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945640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B2A5C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6400800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Complete iTalent ESS Portal Rollout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221992"/>
            <a:ext cx="6400800" cy="38404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EC5"/>
                </a:solidFill>
                <a:latin typeface="Calibri"/>
              </a:rPr>
              <a:t>Finalize configuration, run CC Team pilot, and transition the full company to digital leave management.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768600"/>
            <a:ext cx="320040" cy="320040"/>
          </a:xfrm>
          <a:prstGeom prst="rect">
            <a:avLst/>
          </a:prstGeom>
          <a:solidFill>
            <a:srgbClr val="F5C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768600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B2A5C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743200"/>
            <a:ext cx="6400800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HR Analytics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044952"/>
            <a:ext cx="6400800" cy="38404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EC5"/>
                </a:solidFill>
                <a:latin typeface="Calibri"/>
              </a:rPr>
              <a:t>Build comprehensive HR analytics reporting covering turnover, headcount, attendance, and performance trends.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591560"/>
            <a:ext cx="320040" cy="320040"/>
          </a:xfrm>
          <a:prstGeom prst="rect">
            <a:avLst/>
          </a:prstGeom>
          <a:solidFill>
            <a:srgbClr val="F5C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591560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B2A5C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566160"/>
            <a:ext cx="6400800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AI &amp; Data Projects for HR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867912"/>
            <a:ext cx="6400800" cy="38404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EC5"/>
                </a:solidFill>
                <a:latin typeface="Calibri"/>
              </a:rPr>
              <a:t>Expand automation — smarter leave processing, predictive analytics, automated reporting, and intelligent HR workflows.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414520"/>
            <a:ext cx="320040" cy="320040"/>
          </a:xfrm>
          <a:prstGeom prst="rect">
            <a:avLst/>
          </a:prstGeom>
          <a:solidFill>
            <a:srgbClr val="F5C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414520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B2A5C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389120"/>
            <a:ext cx="6400800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Continue Learning Chinese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690872"/>
            <a:ext cx="6400800" cy="38404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EC5"/>
                </a:solidFill>
                <a:latin typeface="Calibri"/>
              </a:rPr>
              <a:t>Invest consistently in language learning to strengthen collaboration with the broader 51Talk organization.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18120" y="1417320"/>
            <a:ext cx="4069080" cy="5212080"/>
          </a:xfrm>
          <a:prstGeom prst="rect">
            <a:avLst/>
          </a:prstGeom>
          <a:solidFill>
            <a:srgbClr val="162044"/>
          </a:solidFill>
          <a:ln w="19050">
            <a:solidFill>
              <a:srgbClr val="F5C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818120" y="1417320"/>
            <a:ext cx="4069080" cy="384048"/>
          </a:xfrm>
          <a:prstGeom prst="rect">
            <a:avLst/>
          </a:prstGeom>
          <a:solidFill>
            <a:srgbClr val="F5C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55279" y="1463040"/>
            <a:ext cx="3749039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2A5C"/>
                </a:solidFill>
                <a:latin typeface="Calibri"/>
              </a:rPr>
              <a:t>Support Needed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1965960"/>
            <a:ext cx="3749039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C430"/>
                </a:solidFill>
                <a:latin typeface="Calibri"/>
              </a:rPr>
              <a:t>▸  Claude AI — Max Subscription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5279" y="2295144"/>
            <a:ext cx="3749039" cy="7772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EC5"/>
                </a:solidFill>
                <a:latin typeface="Calibri"/>
              </a:rPr>
              <a:t>Required to continue building and scaling HR automation and AI projects that benefit the entire HR department.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79" y="3291840"/>
            <a:ext cx="3749039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C430"/>
                </a:solidFill>
                <a:latin typeface="Calibri"/>
              </a:rPr>
              <a:t>▸  Broader System Access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79" y="3621024"/>
            <a:ext cx="3749039" cy="7772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EC5"/>
                </a:solidFill>
                <a:latin typeface="Calibri"/>
              </a:rPr>
              <a:t>Access to relevant HR and operational systems to enable deeper analytics and automation capabilities.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601200" y="607161"/>
            <a:ext cx="365760" cy="65836"/>
          </a:xfrm>
          <a:prstGeom prst="rect">
            <a:avLst/>
          </a:prstGeom>
          <a:solidFill>
            <a:srgbClr val="F5C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751161" y="457200"/>
            <a:ext cx="65836" cy="365760"/>
          </a:xfrm>
          <a:prstGeom prst="rect">
            <a:avLst/>
          </a:prstGeom>
          <a:solidFill>
            <a:srgbClr val="F5C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155680" y="1465326"/>
            <a:ext cx="228600" cy="41148"/>
          </a:xfrm>
          <a:prstGeom prst="rect">
            <a:avLst/>
          </a:prstGeom>
          <a:solidFill>
            <a:srgbClr val="F5C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249406" y="1371600"/>
            <a:ext cx="41148" cy="228600"/>
          </a:xfrm>
          <a:prstGeom prst="rect">
            <a:avLst/>
          </a:prstGeom>
          <a:solidFill>
            <a:srgbClr val="F5C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241280" y="2627802"/>
            <a:ext cx="164592" cy="29626"/>
          </a:xfrm>
          <a:prstGeom prst="rect">
            <a:avLst/>
          </a:prstGeom>
          <a:solidFill>
            <a:srgbClr val="F5C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308762" y="2560320"/>
            <a:ext cx="29626" cy="164592"/>
          </a:xfrm>
          <a:prstGeom prst="rect">
            <a:avLst/>
          </a:prstGeom>
          <a:solidFill>
            <a:srgbClr val="F5C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996878"/>
            <a:ext cx="201168" cy="36210"/>
          </a:xfrm>
          <a:prstGeom prst="rect">
            <a:avLst/>
          </a:prstGeom>
          <a:solidFill>
            <a:srgbClr val="F5C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8238" y="914400"/>
            <a:ext cx="36210" cy="201168"/>
          </a:xfrm>
          <a:prstGeom prst="rect">
            <a:avLst/>
          </a:prstGeom>
          <a:solidFill>
            <a:srgbClr val="F5C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45920" y="6011082"/>
            <a:ext cx="164592" cy="29626"/>
          </a:xfrm>
          <a:prstGeom prst="rect">
            <a:avLst/>
          </a:prstGeom>
          <a:solidFill>
            <a:srgbClr val="F5C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13402" y="5943600"/>
            <a:ext cx="29626" cy="164592"/>
          </a:xfrm>
          <a:prstGeom prst="rect">
            <a:avLst/>
          </a:prstGeom>
          <a:solidFill>
            <a:srgbClr val="F5C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612880" y="5408493"/>
            <a:ext cx="256032" cy="46085"/>
          </a:xfrm>
          <a:prstGeom prst="rect">
            <a:avLst/>
          </a:prstGeom>
          <a:solidFill>
            <a:srgbClr val="F5C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17853" y="5303520"/>
            <a:ext cx="46085" cy="256032"/>
          </a:xfrm>
          <a:prstGeom prst="rect">
            <a:avLst/>
          </a:prstGeom>
          <a:solidFill>
            <a:srgbClr val="F5C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F5C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961120" y="731520"/>
            <a:ext cx="3840480" cy="3840480"/>
          </a:xfrm>
          <a:prstGeom prst="ellipse">
            <a:avLst/>
          </a:prstGeom>
          <a:solidFill>
            <a:srgbClr val="162044"/>
          </a:solidFill>
          <a:ln w="25400">
            <a:solidFill>
              <a:srgbClr val="F5C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1828800"/>
            <a:ext cx="8229600" cy="1371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6400" b="1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429000"/>
            <a:ext cx="5029200" cy="38100"/>
          </a:xfrm>
          <a:prstGeom prst="rect">
            <a:avLst/>
          </a:prstGeom>
          <a:solidFill>
            <a:srgbClr val="F5C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703320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0BEC5"/>
                </a:solidFill>
                <a:latin typeface="Calibri"/>
              </a:rPr>
              <a:t>Ahmed Al-Sadeq  |  HR Business Partner  |  51Talk Egypt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251960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5C430"/>
                </a:solidFill>
                <a:latin typeface="Calibri"/>
              </a:rPr>
              <a:t>Open for questions &amp; discussion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309360"/>
            <a:ext cx="2286000" cy="34747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5C430"/>
                </a:solidFill>
                <a:latin typeface="Calibri"/>
              </a:rPr>
              <a:t>51Talk Egypt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