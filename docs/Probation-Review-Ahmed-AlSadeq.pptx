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4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875520" y="496976"/>
            <a:ext cx="320040" cy="57607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006736" y="365760"/>
            <a:ext cx="57607" cy="320040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00" y="1088318"/>
            <a:ext cx="201168" cy="36210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055278" y="1005840"/>
            <a:ext cx="36210" cy="201168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515600" y="1896282"/>
            <a:ext cx="164592" cy="29626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583082" y="1828800"/>
            <a:ext cx="29626" cy="164592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5378500"/>
            <a:ext cx="182880" cy="32918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9300" y="5303520"/>
            <a:ext cx="32918" cy="182880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371600" y="6274155"/>
            <a:ext cx="137160" cy="24688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427835" y="6217920"/>
            <a:ext cx="24688" cy="137160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430000" y="5122926"/>
            <a:ext cx="228600" cy="41148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523726" y="5029200"/>
            <a:ext cx="41148" cy="228600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326880" y="-914400"/>
            <a:ext cx="4114800" cy="4114800"/>
          </a:xfrm>
          <a:prstGeom prst="ellipse">
            <a:avLst/>
          </a:prstGeom>
          <a:solidFill>
            <a:srgbClr val="162044"/>
          </a:solidFill>
          <a:ln w="25400">
            <a:solidFill>
              <a:srgbClr val="F5C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128016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430"/>
                </a:solidFill>
                <a:latin typeface="Calibri"/>
              </a:rPr>
              <a:t>51TALK EGYPT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737360"/>
            <a:ext cx="9144000" cy="11887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Work Review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8803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5C430"/>
                </a:solidFill>
                <a:latin typeface="Calibri"/>
              </a:rPr>
              <a:t>Probation Period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11880"/>
            <a:ext cx="5486400" cy="38100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886200"/>
            <a:ext cx="4572000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  <a:latin typeface="Calibri"/>
              </a:rPr>
              <a:t>Ahmed </a:t>
            </a:r>
            <a:r>
              <a:rPr lang="en-US" sz="2000" b="1" dirty="0">
                <a:solidFill>
                  <a:srgbClr val="FFFFFF"/>
                </a:solidFill>
                <a:latin typeface="Calibri"/>
              </a:rPr>
              <a:t>Elsadek</a:t>
            </a:r>
            <a:endParaRPr sz="2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200" y="434340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BEC5"/>
                </a:solidFill>
                <a:latin typeface="Calibri"/>
              </a:rPr>
              <a:t>HR Business Partner  |  51Talk Egypt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75488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C5"/>
                </a:solidFill>
                <a:latin typeface="Calibri"/>
              </a:rPr>
              <a:t>December 9, 2025  –  March 9, 2026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EDDDFC4-E979-4339-66EB-881600233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0733" y="205308"/>
            <a:ext cx="2224134" cy="21497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C430"/>
                </a:solidFill>
                <a:latin typeface="Calibri"/>
              </a:rPr>
              <a:t>01  /  Self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6583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Who I 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11274552" cy="38100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481328"/>
            <a:ext cx="4297680" cy="685800"/>
          </a:xfrm>
          <a:prstGeom prst="rect">
            <a:avLst/>
          </a:prstGeom>
          <a:solidFill>
            <a:srgbClr val="16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544828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C430"/>
                </a:solidFill>
                <a:latin typeface="Calibri"/>
              </a:rPr>
              <a:t>Date of Joining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6128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December 9,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58568"/>
            <a:ext cx="4297680" cy="685800"/>
          </a:xfrm>
          <a:prstGeom prst="rect">
            <a:avLst/>
          </a:prstGeom>
          <a:solidFill>
            <a:srgbClr val="16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322068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C430"/>
                </a:solidFill>
                <a:latin typeface="Calibri"/>
              </a:rPr>
              <a:t>Years of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63368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10 Years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35808"/>
            <a:ext cx="4297680" cy="685800"/>
          </a:xfrm>
          <a:prstGeom prst="rect">
            <a:avLst/>
          </a:prstGeom>
          <a:solidFill>
            <a:srgbClr val="16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099308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C430"/>
                </a:solidFill>
                <a:latin typeface="Calibri"/>
              </a:rPr>
              <a:t>Current 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40608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HR Business Partner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13048"/>
            <a:ext cx="4297680" cy="685800"/>
          </a:xfrm>
          <a:prstGeom prst="rect">
            <a:avLst/>
          </a:prstGeom>
          <a:solidFill>
            <a:srgbClr val="16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876548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C430"/>
                </a:solidFill>
                <a:latin typeface="Calibri"/>
              </a:rPr>
              <a:t>Department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117848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Human Resources — 51Talk Egypt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481328"/>
            <a:ext cx="65836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C430"/>
                </a:solidFill>
                <a:latin typeface="Calibri"/>
              </a:rPr>
              <a:t>Professional 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874519"/>
            <a:ext cx="6583680" cy="116955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B0BEC5"/>
                </a:solidFill>
                <a:latin typeface="Calibri"/>
              </a:rPr>
              <a:t>HR professional with 10 years of experience spanning all HR functions — from talent acquisition, onboarding, and employee relations to HR operations, legal compliance, and HR technology. Proven track record of managing high-volume HR operations, building systems that scale, and driving people-focused initiatives that create measurable business impact.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401568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C430"/>
                </a:solidFill>
                <a:latin typeface="Calibri"/>
              </a:rPr>
              <a:t>Key Responsibilities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794760"/>
            <a:ext cx="6583680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Employee lifecycle management (onboarding to offboarding)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4133088"/>
            <a:ext cx="6583680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Employee relations and case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471416"/>
            <a:ext cx="6583680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HR systems implementation and 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809744"/>
            <a:ext cx="6583680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Legal compliance (social insurance, labor law)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5148072"/>
            <a:ext cx="6583680" cy="2923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FFFFFF"/>
                </a:solidFill>
                <a:latin typeface="Calibri"/>
              </a:rPr>
              <a:t>▸  HR data reporting, and </a:t>
            </a:r>
            <a:r>
              <a:rPr lang="en-US" sz="1300" b="0" dirty="0">
                <a:solidFill>
                  <a:srgbClr val="FFFFFF"/>
                </a:solidFill>
                <a:latin typeface="Calibri"/>
              </a:rPr>
              <a:t>Analysis.</a:t>
            </a:r>
            <a:endParaRPr sz="1300" b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BC04073-677C-FF37-B88E-B88B8FEAE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5933" y="205308"/>
            <a:ext cx="968134" cy="9357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C430"/>
                </a:solidFill>
                <a:latin typeface="Calibri"/>
              </a:rPr>
              <a:t>02  /  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6583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400" b="1" dirty="0">
                <a:solidFill>
                  <a:srgbClr val="FFFFFF"/>
                </a:solidFill>
                <a:latin typeface="Calibri"/>
              </a:rPr>
              <a:t>Impact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11274552" cy="38100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0509975-30CE-AF35-D8FB-2A445C32860D}"/>
              </a:ext>
            </a:extLst>
          </p:cNvPr>
          <p:cNvSpPr/>
          <p:nvPr/>
        </p:nvSpPr>
        <p:spPr>
          <a:xfrm>
            <a:off x="457200" y="3946287"/>
            <a:ext cx="3657600" cy="1920240"/>
          </a:xfrm>
          <a:prstGeom prst="rect">
            <a:avLst/>
          </a:prstGeom>
          <a:solidFill>
            <a:srgbClr val="162044"/>
          </a:solidFill>
          <a:ln w="12700">
            <a:solidFill>
              <a:srgbClr val="F5C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A5B70B9-9472-463F-1D84-2000F266B740}"/>
              </a:ext>
            </a:extLst>
          </p:cNvPr>
          <p:cNvSpPr txBox="1"/>
          <p:nvPr/>
        </p:nvSpPr>
        <p:spPr>
          <a:xfrm>
            <a:off x="640080" y="3969991"/>
            <a:ext cx="3291840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5400" b="1" dirty="0">
                <a:solidFill>
                  <a:srgbClr val="F5C430"/>
                </a:solidFill>
                <a:latin typeface="Calibri"/>
              </a:rPr>
              <a:t>125</a:t>
            </a:r>
            <a:endParaRPr sz="5400" b="1" dirty="0">
              <a:solidFill>
                <a:srgbClr val="F5C430"/>
              </a:solidFill>
              <a:latin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9F75FC-00FE-5052-D85B-E5F39238A07C}"/>
              </a:ext>
            </a:extLst>
          </p:cNvPr>
          <p:cNvSpPr txBox="1"/>
          <p:nvPr/>
        </p:nvSpPr>
        <p:spPr>
          <a:xfrm>
            <a:off x="640080" y="4723861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FFFFFF"/>
                </a:solidFill>
                <a:latin typeface="Calibri"/>
              </a:rPr>
              <a:t>New Hires Onboarded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5660AF-B18A-45F9-D632-B121A33346A9}"/>
              </a:ext>
            </a:extLst>
          </p:cNvPr>
          <p:cNvSpPr txBox="1"/>
          <p:nvPr/>
        </p:nvSpPr>
        <p:spPr>
          <a:xfrm>
            <a:off x="640080" y="5044578"/>
            <a:ext cx="3291840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B0BEC5"/>
                </a:solidFill>
                <a:latin typeface="Calibri"/>
              </a:rPr>
              <a:t>End-to-end onboarding for </a:t>
            </a:r>
            <a:r>
              <a:rPr lang="en-US" sz="1100" b="1" dirty="0">
                <a:solidFill>
                  <a:srgbClr val="B0BEC5"/>
                </a:solidFill>
                <a:latin typeface="Calibri"/>
              </a:rPr>
              <a:t>125 </a:t>
            </a:r>
            <a:r>
              <a:rPr sz="1100" b="1" dirty="0">
                <a:solidFill>
                  <a:srgbClr val="B0BEC5"/>
                </a:solidFill>
                <a:latin typeface="Calibri"/>
              </a:rPr>
              <a:t>employees within 3 months</a:t>
            </a:r>
            <a:r>
              <a:rPr lang="en-US" sz="1100" b="1" dirty="0">
                <a:solidFill>
                  <a:srgbClr val="B0BEC5"/>
                </a:solidFill>
                <a:latin typeface="Calibri"/>
              </a:rPr>
              <a:t> on 9 Sessions</a:t>
            </a:r>
            <a:endParaRPr sz="1100" b="1" dirty="0">
              <a:solidFill>
                <a:srgbClr val="B0BEC5"/>
              </a:solidFill>
              <a:latin typeface="Calibri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AA84AD7-1021-4FED-DF20-626BE4FE53A2}"/>
              </a:ext>
            </a:extLst>
          </p:cNvPr>
          <p:cNvSpPr/>
          <p:nvPr/>
        </p:nvSpPr>
        <p:spPr>
          <a:xfrm>
            <a:off x="4343400" y="3946287"/>
            <a:ext cx="3657600" cy="1920240"/>
          </a:xfrm>
          <a:prstGeom prst="rect">
            <a:avLst/>
          </a:prstGeom>
          <a:solidFill>
            <a:srgbClr val="162044"/>
          </a:solidFill>
          <a:ln w="12700">
            <a:solidFill>
              <a:srgbClr val="F5C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B42C26-DBF5-7D2C-6BCE-81CF1135970B}"/>
              </a:ext>
            </a:extLst>
          </p:cNvPr>
          <p:cNvSpPr txBox="1"/>
          <p:nvPr/>
        </p:nvSpPr>
        <p:spPr>
          <a:xfrm>
            <a:off x="4526280" y="3969991"/>
            <a:ext cx="329184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5400" b="1" dirty="0">
                <a:solidFill>
                  <a:srgbClr val="F5C430"/>
                </a:solidFill>
                <a:latin typeface="Calibri"/>
              </a:rPr>
              <a:t>50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6B2289-373E-3269-1157-F683194E3D6E}"/>
              </a:ext>
            </a:extLst>
          </p:cNvPr>
          <p:cNvSpPr txBox="1"/>
          <p:nvPr/>
        </p:nvSpPr>
        <p:spPr>
          <a:xfrm>
            <a:off x="4526280" y="4723861"/>
            <a:ext cx="3291840" cy="2923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Calibri"/>
              </a:rPr>
              <a:t>Off-boarding Cases</a:t>
            </a:r>
            <a:endParaRPr sz="13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D09DFCD-E84D-3010-704A-05A0D47BC73C}"/>
              </a:ext>
            </a:extLst>
          </p:cNvPr>
          <p:cNvSpPr txBox="1"/>
          <p:nvPr/>
        </p:nvSpPr>
        <p:spPr>
          <a:xfrm>
            <a:off x="4526280" y="5044578"/>
            <a:ext cx="3291840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100" b="1" dirty="0">
                <a:solidFill>
                  <a:srgbClr val="B0BEC5"/>
                </a:solidFill>
                <a:latin typeface="Calibri"/>
              </a:rPr>
              <a:t>94% Handled completely and assets claimed.</a:t>
            </a:r>
            <a:endParaRPr sz="1100" b="1" dirty="0">
              <a:solidFill>
                <a:srgbClr val="B0BEC5"/>
              </a:solidFill>
              <a:latin typeface="Calibri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A46230-DC2E-188D-148D-4C3DCDED6DF4}"/>
              </a:ext>
            </a:extLst>
          </p:cNvPr>
          <p:cNvSpPr/>
          <p:nvPr/>
        </p:nvSpPr>
        <p:spPr>
          <a:xfrm>
            <a:off x="8229600" y="3946287"/>
            <a:ext cx="3657600" cy="1920240"/>
          </a:xfrm>
          <a:prstGeom prst="rect">
            <a:avLst/>
          </a:prstGeom>
          <a:solidFill>
            <a:srgbClr val="162044"/>
          </a:solidFill>
          <a:ln w="12700">
            <a:solidFill>
              <a:srgbClr val="F5C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C4929F9-2E27-D687-400D-C622CC1B374B}"/>
              </a:ext>
            </a:extLst>
          </p:cNvPr>
          <p:cNvSpPr txBox="1"/>
          <p:nvPr/>
        </p:nvSpPr>
        <p:spPr>
          <a:xfrm>
            <a:off x="8412480" y="3961524"/>
            <a:ext cx="3291840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5400" b="1" dirty="0">
                <a:solidFill>
                  <a:srgbClr val="F5C430"/>
                </a:solidFill>
                <a:latin typeface="Calibri"/>
              </a:rPr>
              <a:t>8</a:t>
            </a:r>
            <a:endParaRPr sz="5400" b="1" dirty="0">
              <a:solidFill>
                <a:srgbClr val="F5C430"/>
              </a:solidFill>
              <a:latin typeface="Calibri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4E7A64-7E61-F7EA-FEF5-3FE4D2E46FCE}"/>
              </a:ext>
            </a:extLst>
          </p:cNvPr>
          <p:cNvSpPr txBox="1"/>
          <p:nvPr/>
        </p:nvSpPr>
        <p:spPr>
          <a:xfrm>
            <a:off x="8412480" y="4723861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FFFFFF"/>
                </a:solidFill>
                <a:latin typeface="Calibri"/>
              </a:rPr>
              <a:t>Legal &amp; Compliance Cases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372EB82-3E4D-5527-73B4-92ABEDF552A9}"/>
              </a:ext>
            </a:extLst>
          </p:cNvPr>
          <p:cNvSpPr txBox="1"/>
          <p:nvPr/>
        </p:nvSpPr>
        <p:spPr>
          <a:xfrm>
            <a:off x="8412480" y="5010710"/>
            <a:ext cx="3291840" cy="6001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B0BEC5"/>
                </a:solidFill>
                <a:latin typeface="Calibri"/>
              </a:rPr>
              <a:t>1 social insurance investigatio</a:t>
            </a:r>
            <a:r>
              <a:rPr lang="en-US" sz="1100" b="1" dirty="0">
                <a:solidFill>
                  <a:srgbClr val="B0BEC5"/>
                </a:solidFill>
                <a:latin typeface="Calibri"/>
              </a:rPr>
              <a:t>n.</a:t>
            </a:r>
            <a:r>
              <a:rPr sz="1100" b="1" dirty="0">
                <a:solidFill>
                  <a:srgbClr val="B0BEC5"/>
                </a:solidFill>
                <a:latin typeface="Calibri"/>
              </a:rPr>
              <a:t>
</a:t>
            </a:r>
            <a:r>
              <a:rPr lang="en-US" sz="1100" b="1" dirty="0">
                <a:solidFill>
                  <a:srgbClr val="B0BEC5"/>
                </a:solidFill>
                <a:latin typeface="Calibri"/>
              </a:rPr>
              <a:t>3</a:t>
            </a:r>
            <a:r>
              <a:rPr sz="1100" b="1" dirty="0">
                <a:solidFill>
                  <a:srgbClr val="B0BEC5"/>
                </a:solidFill>
                <a:latin typeface="Calibri"/>
              </a:rPr>
              <a:t> re-hire violation cases resolved</a:t>
            </a:r>
            <a:endParaRPr lang="en-US" sz="1100" b="1" dirty="0">
              <a:solidFill>
                <a:srgbClr val="B0BEC5"/>
              </a:solidFill>
              <a:latin typeface="Calibri"/>
            </a:endParaRPr>
          </a:p>
          <a:p>
            <a:pPr algn="l"/>
            <a:r>
              <a:rPr lang="en-US" sz="1100" b="1" dirty="0">
                <a:solidFill>
                  <a:srgbClr val="B0BEC5"/>
                </a:solidFill>
                <a:latin typeface="Calibri"/>
              </a:rPr>
              <a:t>5 ER &amp; Conflict Cases</a:t>
            </a:r>
            <a:endParaRPr sz="1100" b="1" dirty="0">
              <a:solidFill>
                <a:srgbClr val="B0BEC5"/>
              </a:solidFill>
              <a:latin typeface="Calibri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C317E30-D0AD-1840-9F8D-40B3A811E8A2}"/>
              </a:ext>
            </a:extLst>
          </p:cNvPr>
          <p:cNvSpPr/>
          <p:nvPr/>
        </p:nvSpPr>
        <p:spPr>
          <a:xfrm>
            <a:off x="2208212" y="1806096"/>
            <a:ext cx="3657600" cy="1920240"/>
          </a:xfrm>
          <a:prstGeom prst="rect">
            <a:avLst/>
          </a:prstGeom>
          <a:solidFill>
            <a:srgbClr val="162044"/>
          </a:solidFill>
          <a:ln w="12700">
            <a:solidFill>
              <a:srgbClr val="F5C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D8CB112-8574-E028-21AA-004ECFF4397A}"/>
              </a:ext>
            </a:extLst>
          </p:cNvPr>
          <p:cNvSpPr/>
          <p:nvPr/>
        </p:nvSpPr>
        <p:spPr>
          <a:xfrm>
            <a:off x="6094412" y="1806096"/>
            <a:ext cx="3657600" cy="1920240"/>
          </a:xfrm>
          <a:prstGeom prst="rect">
            <a:avLst/>
          </a:prstGeom>
          <a:solidFill>
            <a:srgbClr val="162044"/>
          </a:solidFill>
          <a:ln w="12700">
            <a:solidFill>
              <a:srgbClr val="F5C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85FF52E-42E3-1937-C25D-FCA5CA4B29B6}"/>
              </a:ext>
            </a:extLst>
          </p:cNvPr>
          <p:cNvSpPr txBox="1"/>
          <p:nvPr/>
        </p:nvSpPr>
        <p:spPr>
          <a:xfrm>
            <a:off x="6199504" y="2277453"/>
            <a:ext cx="3520440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000" b="1" dirty="0">
                <a:solidFill>
                  <a:srgbClr val="F5C430"/>
                </a:solidFill>
                <a:latin typeface="Calibri"/>
              </a:rPr>
              <a:t>Frequently checking the active employees.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937D981-ABB9-119B-0972-69D4944BDA3F}"/>
              </a:ext>
            </a:extLst>
          </p:cNvPr>
          <p:cNvSpPr txBox="1"/>
          <p:nvPr/>
        </p:nvSpPr>
        <p:spPr>
          <a:xfrm>
            <a:off x="6199504" y="1957192"/>
            <a:ext cx="329184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FFFFFF"/>
                </a:solidFill>
                <a:latin typeface="Calibri"/>
              </a:rPr>
              <a:t>Regular Review of the HC</a:t>
            </a:r>
            <a:endParaRPr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C53CD4F-D39C-362D-6C7A-62532048667A}"/>
              </a:ext>
            </a:extLst>
          </p:cNvPr>
          <p:cNvSpPr txBox="1"/>
          <p:nvPr/>
        </p:nvSpPr>
        <p:spPr>
          <a:xfrm>
            <a:off x="6199504" y="2997052"/>
            <a:ext cx="3291840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100" b="1" dirty="0">
                <a:solidFill>
                  <a:srgbClr val="B0BEC5"/>
                </a:solidFill>
                <a:latin typeface="Calibri"/>
              </a:rPr>
              <a:t>To avoid the previous issues of extra payments, open CRMs, &amp; Un-collected assets.</a:t>
            </a:r>
            <a:endParaRPr sz="1100" b="1" dirty="0">
              <a:solidFill>
                <a:srgbClr val="B0BEC5"/>
              </a:solidFill>
              <a:latin typeface="Calibri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70A8F1D-2466-4370-9558-65BEAB1A5FB9}"/>
              </a:ext>
            </a:extLst>
          </p:cNvPr>
          <p:cNvSpPr txBox="1"/>
          <p:nvPr/>
        </p:nvSpPr>
        <p:spPr>
          <a:xfrm>
            <a:off x="2391092" y="2006175"/>
            <a:ext cx="3291840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000" b="1" dirty="0">
                <a:solidFill>
                  <a:srgbClr val="F5C430"/>
                </a:solidFill>
                <a:latin typeface="Calibri"/>
              </a:rPr>
              <a:t>5 AI projects &amp; Tools Created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FBE563D-1A48-520C-5EBF-B4902417F2EC}"/>
              </a:ext>
            </a:extLst>
          </p:cNvPr>
          <p:cNvSpPr txBox="1"/>
          <p:nvPr/>
        </p:nvSpPr>
        <p:spPr>
          <a:xfrm>
            <a:off x="2468816" y="2378744"/>
            <a:ext cx="3291840" cy="116955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Attendance Dashboard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HR Analytics Dashboard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Employee Lockup tool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Event Quiz Tool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Event Lucky Draw Tool</a:t>
            </a:r>
            <a:endParaRPr sz="1400" b="1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36DC7E56-2129-68B0-97C0-51CA43A56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5933" y="205308"/>
            <a:ext cx="968134" cy="9357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5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AAA331-CBBE-7082-D8AD-4F47385FE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258403-A415-82DD-4C43-D12EF3225B64}"/>
              </a:ext>
            </a:extLst>
          </p:cNvPr>
          <p:cNvSpPr txBox="1"/>
          <p:nvPr/>
        </p:nvSpPr>
        <p:spPr>
          <a:xfrm>
            <a:off x="457200" y="201168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C430"/>
                </a:solidFill>
                <a:latin typeface="Calibri"/>
              </a:rPr>
              <a:t>02  /  Performance Summary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1EBB3C-A3A3-0457-9436-CB58596572DC}"/>
              </a:ext>
            </a:extLst>
          </p:cNvPr>
          <p:cNvSpPr/>
          <p:nvPr/>
        </p:nvSpPr>
        <p:spPr>
          <a:xfrm>
            <a:off x="457200" y="1298448"/>
            <a:ext cx="11274552" cy="38100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B46CF7-513E-9F27-B86A-CD2DE3D9D718}"/>
              </a:ext>
            </a:extLst>
          </p:cNvPr>
          <p:cNvSpPr/>
          <p:nvPr/>
        </p:nvSpPr>
        <p:spPr>
          <a:xfrm>
            <a:off x="2514600" y="3902845"/>
            <a:ext cx="3657600" cy="1920240"/>
          </a:xfrm>
          <a:prstGeom prst="rect">
            <a:avLst/>
          </a:prstGeom>
          <a:solidFill>
            <a:srgbClr val="162044"/>
          </a:solidFill>
          <a:ln w="12700">
            <a:solidFill>
              <a:srgbClr val="F5C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52031C-7F19-6596-2F3C-6E2621885D79}"/>
              </a:ext>
            </a:extLst>
          </p:cNvPr>
          <p:cNvSpPr txBox="1"/>
          <p:nvPr/>
        </p:nvSpPr>
        <p:spPr>
          <a:xfrm>
            <a:off x="2638213" y="4769782"/>
            <a:ext cx="3291840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100" b="0" dirty="0">
                <a:solidFill>
                  <a:srgbClr val="B0BEC5"/>
                </a:solidFill>
                <a:latin typeface="Calibri"/>
              </a:rPr>
              <a:t>Avoided the cost of the quiz management tools for 300+ attendees.</a:t>
            </a:r>
            <a:endParaRPr sz="1100" b="0" dirty="0">
              <a:solidFill>
                <a:srgbClr val="B0BEC5"/>
              </a:solidFill>
              <a:latin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772C1C-4C57-6BAB-6C86-AEB2D6FFB777}"/>
              </a:ext>
            </a:extLst>
          </p:cNvPr>
          <p:cNvSpPr/>
          <p:nvPr/>
        </p:nvSpPr>
        <p:spPr>
          <a:xfrm>
            <a:off x="6400800" y="3902845"/>
            <a:ext cx="3657600" cy="1920240"/>
          </a:xfrm>
          <a:prstGeom prst="rect">
            <a:avLst/>
          </a:prstGeom>
          <a:solidFill>
            <a:srgbClr val="162044"/>
          </a:solidFill>
          <a:ln w="12700">
            <a:solidFill>
              <a:srgbClr val="F5C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4EDA42-F394-A1EF-C7DE-A82D7C7599F2}"/>
              </a:ext>
            </a:extLst>
          </p:cNvPr>
          <p:cNvSpPr txBox="1"/>
          <p:nvPr/>
        </p:nvSpPr>
        <p:spPr>
          <a:xfrm>
            <a:off x="6583680" y="5024860"/>
            <a:ext cx="3291840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100" dirty="0">
                <a:solidFill>
                  <a:srgbClr val="B0BEC5"/>
                </a:solidFill>
                <a:latin typeface="Calibri"/>
              </a:rPr>
              <a:t>Instead of using paid tools with around 50$  &amp; Avoided using free tools with inappropriate Ads.</a:t>
            </a:r>
            <a:endParaRPr sz="1100" b="0" dirty="0">
              <a:solidFill>
                <a:srgbClr val="B0BEC5"/>
              </a:solidFill>
              <a:latin typeface="Calibri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86AA83-1FC7-3D70-F9D8-C674D9FC4269}"/>
              </a:ext>
            </a:extLst>
          </p:cNvPr>
          <p:cNvSpPr/>
          <p:nvPr/>
        </p:nvSpPr>
        <p:spPr>
          <a:xfrm>
            <a:off x="457200" y="1753961"/>
            <a:ext cx="3657600" cy="1920240"/>
          </a:xfrm>
          <a:prstGeom prst="rect">
            <a:avLst/>
          </a:prstGeom>
          <a:solidFill>
            <a:srgbClr val="162044"/>
          </a:solidFill>
          <a:ln w="12700">
            <a:solidFill>
              <a:srgbClr val="F5C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2A320E7-A7B7-824D-D424-4E4125C0CA3D}"/>
              </a:ext>
            </a:extLst>
          </p:cNvPr>
          <p:cNvSpPr/>
          <p:nvPr/>
        </p:nvSpPr>
        <p:spPr>
          <a:xfrm>
            <a:off x="4343400" y="1753961"/>
            <a:ext cx="3657600" cy="1920240"/>
          </a:xfrm>
          <a:prstGeom prst="rect">
            <a:avLst/>
          </a:prstGeom>
          <a:solidFill>
            <a:srgbClr val="162044"/>
          </a:solidFill>
          <a:ln w="12700">
            <a:solidFill>
              <a:srgbClr val="F5C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6F22A5-8ED0-8FFD-099F-C7436B5BB378}"/>
              </a:ext>
            </a:extLst>
          </p:cNvPr>
          <p:cNvSpPr txBox="1"/>
          <p:nvPr/>
        </p:nvSpPr>
        <p:spPr>
          <a:xfrm>
            <a:off x="4448492" y="2225318"/>
            <a:ext cx="3291840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000" b="1" dirty="0">
                <a:solidFill>
                  <a:srgbClr val="F5C430"/>
                </a:solidFill>
                <a:latin typeface="Calibri"/>
              </a:rPr>
              <a:t>+</a:t>
            </a:r>
            <a:r>
              <a:rPr sz="2000" b="1" dirty="0">
                <a:solidFill>
                  <a:srgbClr val="F5C430"/>
                </a:solidFill>
                <a:latin typeface="Calibri"/>
              </a:rPr>
              <a:t>5</a:t>
            </a:r>
            <a:r>
              <a:rPr lang="en-US" sz="2000" b="1" dirty="0">
                <a:solidFill>
                  <a:srgbClr val="F5C430"/>
                </a:solidFill>
                <a:latin typeface="Calibri"/>
              </a:rPr>
              <a:t> Hours Saved each time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45AA0F-402F-AC35-1619-C7ADC6B224BC}"/>
              </a:ext>
            </a:extLst>
          </p:cNvPr>
          <p:cNvSpPr txBox="1"/>
          <p:nvPr/>
        </p:nvSpPr>
        <p:spPr>
          <a:xfrm>
            <a:off x="4448492" y="1905057"/>
            <a:ext cx="329184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FFFFFF"/>
                </a:solidFill>
                <a:latin typeface="Calibri"/>
              </a:rPr>
              <a:t>HR Analytics Dashboard</a:t>
            </a:r>
            <a:endParaRPr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1A27C92-D2C5-2EEE-52E0-C5A67D0F424C}"/>
              </a:ext>
            </a:extLst>
          </p:cNvPr>
          <p:cNvSpPr txBox="1"/>
          <p:nvPr/>
        </p:nvSpPr>
        <p:spPr>
          <a:xfrm>
            <a:off x="4448492" y="2776988"/>
            <a:ext cx="3291840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100" b="0" dirty="0">
                <a:solidFill>
                  <a:srgbClr val="B0BEC5"/>
                </a:solidFill>
                <a:latin typeface="Calibri"/>
              </a:rPr>
              <a:t>The full dashboard now runs in </a:t>
            </a:r>
            <a:r>
              <a:rPr lang="en-US" sz="1100" dirty="0">
                <a:solidFill>
                  <a:srgbClr val="B0BEC5"/>
                </a:solidFill>
                <a:latin typeface="Calibri"/>
              </a:rPr>
              <a:t>less than 1 minute which gives immediate access to the full HR metrics.</a:t>
            </a:r>
            <a:endParaRPr sz="1100" b="0" dirty="0">
              <a:solidFill>
                <a:srgbClr val="B0BEC5"/>
              </a:solidFill>
              <a:latin typeface="Calibri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6606D23-0EC3-E04C-8BC9-EB756A10B1F6}"/>
              </a:ext>
            </a:extLst>
          </p:cNvPr>
          <p:cNvSpPr/>
          <p:nvPr/>
        </p:nvSpPr>
        <p:spPr>
          <a:xfrm>
            <a:off x="8229600" y="1753961"/>
            <a:ext cx="3657600" cy="1920240"/>
          </a:xfrm>
          <a:prstGeom prst="rect">
            <a:avLst/>
          </a:prstGeom>
          <a:solidFill>
            <a:srgbClr val="162044"/>
          </a:solidFill>
          <a:ln w="12700">
            <a:solidFill>
              <a:srgbClr val="F5C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61ACEDF-5309-7FA6-E77F-5F292A4BB875}"/>
              </a:ext>
            </a:extLst>
          </p:cNvPr>
          <p:cNvSpPr txBox="1"/>
          <p:nvPr/>
        </p:nvSpPr>
        <p:spPr>
          <a:xfrm>
            <a:off x="8439912" y="2904083"/>
            <a:ext cx="3291840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100" b="0" dirty="0">
                <a:solidFill>
                  <a:srgbClr val="B0BEC5"/>
                </a:solidFill>
                <a:latin typeface="Calibri"/>
              </a:rPr>
              <a:t>The TA team can Avoid the re-hire violation cases while working independently.</a:t>
            </a:r>
            <a:endParaRPr sz="1100" b="0" dirty="0">
              <a:solidFill>
                <a:srgbClr val="B0BEC5"/>
              </a:solidFill>
              <a:latin typeface="Calibri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6CF6178-0061-85FD-EBF2-641CD9155B93}"/>
              </a:ext>
            </a:extLst>
          </p:cNvPr>
          <p:cNvSpPr txBox="1"/>
          <p:nvPr/>
        </p:nvSpPr>
        <p:spPr>
          <a:xfrm>
            <a:off x="457200" y="563138"/>
            <a:ext cx="10972800" cy="61555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3400" b="1" dirty="0">
                <a:solidFill>
                  <a:srgbClr val="FFFFFF"/>
                </a:solidFill>
                <a:latin typeface="Calibri"/>
              </a:rPr>
              <a:t>Automation Impact</a:t>
            </a:r>
            <a:endParaRPr sz="3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F9CBBBB-2024-7523-03AD-355A3A1CDA20}"/>
              </a:ext>
            </a:extLst>
          </p:cNvPr>
          <p:cNvSpPr txBox="1"/>
          <p:nvPr/>
        </p:nvSpPr>
        <p:spPr>
          <a:xfrm>
            <a:off x="8412480" y="2203499"/>
            <a:ext cx="3291840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000" b="1" dirty="0">
                <a:solidFill>
                  <a:srgbClr val="F5C430"/>
                </a:solidFill>
                <a:latin typeface="Calibri"/>
              </a:rPr>
              <a:t>+20 mins of communication Saved per candidate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D664B2F-992C-B6AA-5B69-0BD80D3A8DCC}"/>
              </a:ext>
            </a:extLst>
          </p:cNvPr>
          <p:cNvSpPr txBox="1"/>
          <p:nvPr/>
        </p:nvSpPr>
        <p:spPr>
          <a:xfrm>
            <a:off x="8412480" y="1883238"/>
            <a:ext cx="329184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FFFFFF"/>
                </a:solidFill>
                <a:latin typeface="Calibri"/>
              </a:rPr>
              <a:t>Employee Lookup Tool</a:t>
            </a:r>
            <a:endParaRPr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A4ACBD1-F914-1FE5-5E16-DAAAD5D6DE6C}"/>
              </a:ext>
            </a:extLst>
          </p:cNvPr>
          <p:cNvSpPr txBox="1"/>
          <p:nvPr/>
        </p:nvSpPr>
        <p:spPr>
          <a:xfrm>
            <a:off x="640080" y="2209354"/>
            <a:ext cx="3291840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000" b="1" dirty="0">
                <a:solidFill>
                  <a:srgbClr val="F5C430"/>
                </a:solidFill>
                <a:latin typeface="Calibri"/>
              </a:rPr>
              <a:t>+176 Hours Saved Monthly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C3EB0BE-8DEC-E60A-13AA-F52288EAAC67}"/>
              </a:ext>
            </a:extLst>
          </p:cNvPr>
          <p:cNvSpPr txBox="1"/>
          <p:nvPr/>
        </p:nvSpPr>
        <p:spPr>
          <a:xfrm>
            <a:off x="640080" y="1889093"/>
            <a:ext cx="329184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FFFFFF"/>
                </a:solidFill>
                <a:latin typeface="Calibri"/>
              </a:rPr>
              <a:t>Attendance Dashboard</a:t>
            </a:r>
            <a:endParaRPr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E78A7D-B141-D40D-3471-03730CFE5A28}"/>
              </a:ext>
            </a:extLst>
          </p:cNvPr>
          <p:cNvSpPr txBox="1"/>
          <p:nvPr/>
        </p:nvSpPr>
        <p:spPr>
          <a:xfrm>
            <a:off x="640080" y="2718280"/>
            <a:ext cx="3291840" cy="6001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100" b="0" dirty="0">
                <a:solidFill>
                  <a:srgbClr val="B0BEC5"/>
                </a:solidFill>
                <a:latin typeface="Calibri"/>
              </a:rPr>
              <a:t>It takes on Average 8.2 Hours each time to run the attendance report Manually, now we can run it on daily bases in less than 5 minutes.</a:t>
            </a:r>
            <a:endParaRPr sz="1100" b="0" dirty="0">
              <a:solidFill>
                <a:srgbClr val="B0BEC5"/>
              </a:solidFill>
              <a:latin typeface="Calibri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F1C75D3-92A2-2F25-ADD2-E571DE920033}"/>
              </a:ext>
            </a:extLst>
          </p:cNvPr>
          <p:cNvSpPr txBox="1"/>
          <p:nvPr/>
        </p:nvSpPr>
        <p:spPr>
          <a:xfrm>
            <a:off x="2638213" y="4322210"/>
            <a:ext cx="3291840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000" b="1" dirty="0">
                <a:solidFill>
                  <a:srgbClr val="F5C430"/>
                </a:solidFill>
                <a:latin typeface="Calibri"/>
              </a:rPr>
              <a:t>750$ Saved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F8BD31-5AAD-D3F0-3307-A4AE9AFF3668}"/>
              </a:ext>
            </a:extLst>
          </p:cNvPr>
          <p:cNvSpPr txBox="1"/>
          <p:nvPr/>
        </p:nvSpPr>
        <p:spPr>
          <a:xfrm>
            <a:off x="2638213" y="4001949"/>
            <a:ext cx="329184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FFFFFF"/>
                </a:solidFill>
                <a:latin typeface="Calibri"/>
              </a:rPr>
              <a:t>Event Quiz Tool</a:t>
            </a:r>
            <a:endParaRPr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8EC1892-DD5B-0618-37CB-214CA0CCE760}"/>
              </a:ext>
            </a:extLst>
          </p:cNvPr>
          <p:cNvSpPr txBox="1"/>
          <p:nvPr/>
        </p:nvSpPr>
        <p:spPr>
          <a:xfrm>
            <a:off x="6583680" y="4322210"/>
            <a:ext cx="3291840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000" b="1" dirty="0">
                <a:solidFill>
                  <a:srgbClr val="F5C430"/>
                </a:solidFill>
                <a:latin typeface="Calibri"/>
              </a:rPr>
              <a:t>Branded &amp; Customized at 0$ Cost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DB858EF-1BEB-5F5A-2E33-A43A29029DAE}"/>
              </a:ext>
            </a:extLst>
          </p:cNvPr>
          <p:cNvSpPr txBox="1"/>
          <p:nvPr/>
        </p:nvSpPr>
        <p:spPr>
          <a:xfrm>
            <a:off x="6583680" y="4001949"/>
            <a:ext cx="329184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FFFFFF"/>
                </a:solidFill>
                <a:latin typeface="Calibri"/>
              </a:rPr>
              <a:t>Event Lucky Draw Tool</a:t>
            </a:r>
            <a:endParaRPr b="1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73B5C0B-F5F5-A88C-8E75-DA6512FAD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5933" y="205308"/>
            <a:ext cx="968134" cy="93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514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C430"/>
                </a:solidFill>
                <a:latin typeface="Calibri"/>
              </a:rPr>
              <a:t>03  /  Value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430000" cy="6583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Living the 51Talk Values — STAR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11274552" cy="38100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577840" cy="2468880"/>
          </a:xfrm>
          <a:prstGeom prst="rect">
            <a:avLst/>
          </a:prstGeom>
          <a:solidFill>
            <a:srgbClr val="162044"/>
          </a:solidFill>
          <a:ln w="190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577840" cy="38404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526540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Game Changer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945640"/>
            <a:ext cx="256032" cy="2743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945640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920240"/>
            <a:ext cx="5029200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100" b="1" dirty="0">
                <a:solidFill>
                  <a:srgbClr val="B0BEC5"/>
                </a:solidFill>
                <a:latin typeface="Calibri"/>
              </a:rPr>
              <a:t>Needed to support the HR team with insights to make data driven decisions.</a:t>
            </a:r>
            <a:endParaRPr sz="1100" b="1" dirty="0">
              <a:solidFill>
                <a:srgbClr val="B0BEC5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5488" y="2439416"/>
            <a:ext cx="256032" cy="2743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2439416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414016"/>
            <a:ext cx="5029200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100" b="1" dirty="0">
                <a:solidFill>
                  <a:srgbClr val="B0BEC5"/>
                </a:solidFill>
                <a:latin typeface="Calibri"/>
              </a:rPr>
              <a:t>Reviewed the available data and  resources</a:t>
            </a:r>
            <a:endParaRPr sz="1100" b="1" dirty="0">
              <a:solidFill>
                <a:srgbClr val="B0BEC5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75488" y="2933192"/>
            <a:ext cx="256032" cy="2743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2933192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907792"/>
            <a:ext cx="5029200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B0BEC5"/>
                </a:solidFill>
                <a:latin typeface="Calibri"/>
              </a:rPr>
              <a:t>Built </a:t>
            </a:r>
            <a:r>
              <a:rPr lang="en-US" sz="1100" b="1" dirty="0">
                <a:solidFill>
                  <a:srgbClr val="B0BEC5"/>
                </a:solidFill>
                <a:latin typeface="Calibri"/>
              </a:rPr>
              <a:t>HR analytics</a:t>
            </a:r>
            <a:r>
              <a:rPr sz="1100" b="1" dirty="0">
                <a:solidFill>
                  <a:srgbClr val="B0BEC5"/>
                </a:solidFill>
                <a:latin typeface="Calibri"/>
              </a:rPr>
              <a:t> Dashboard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3426968"/>
            <a:ext cx="256032" cy="2743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3426968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401568"/>
            <a:ext cx="5029200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F5C430"/>
                </a:solidFill>
                <a:latin typeface="Calibri"/>
              </a:rPr>
              <a:t>Reduced manual effort; laid foundation for a fully digital HR </a:t>
            </a:r>
            <a:r>
              <a:rPr lang="en-US" sz="1100" b="1" dirty="0">
                <a:solidFill>
                  <a:srgbClr val="F5C430"/>
                </a:solidFill>
                <a:latin typeface="Calibri"/>
              </a:rPr>
              <a:t>data Analysis tool</a:t>
            </a:r>
            <a:r>
              <a:rPr sz="1100" b="1" dirty="0">
                <a:solidFill>
                  <a:srgbClr val="F5C430"/>
                </a:solidFill>
                <a:latin typeface="Calibri"/>
              </a:rPr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1463040"/>
            <a:ext cx="5577840" cy="2468880"/>
          </a:xfrm>
          <a:prstGeom prst="rect">
            <a:avLst/>
          </a:prstGeom>
          <a:solidFill>
            <a:srgbClr val="162044"/>
          </a:solidFill>
          <a:ln w="19050">
            <a:solidFill>
              <a:srgbClr val="3D8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1463040"/>
            <a:ext cx="5577840" cy="384048"/>
          </a:xfrm>
          <a:prstGeom prst="rect">
            <a:avLst/>
          </a:prstGeom>
          <a:solidFill>
            <a:srgbClr val="3D8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0" y="1526540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Customer Focus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81928" y="1945640"/>
            <a:ext cx="256032" cy="274320"/>
          </a:xfrm>
          <a:prstGeom prst="rect">
            <a:avLst/>
          </a:prstGeom>
          <a:solidFill>
            <a:srgbClr val="3D8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81928" y="1945640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1112" y="1920240"/>
            <a:ext cx="5029200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100" b="1" dirty="0">
                <a:solidFill>
                  <a:srgbClr val="B0BEC5"/>
                </a:solidFill>
                <a:latin typeface="Calibri"/>
              </a:rPr>
              <a:t>Needed to support the Business teams with visibility on their teams’ attendance. </a:t>
            </a:r>
            <a:endParaRPr sz="1100" b="1" dirty="0">
              <a:solidFill>
                <a:srgbClr val="B0BEC5"/>
              </a:solidFill>
              <a:latin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281928" y="2439416"/>
            <a:ext cx="256032" cy="274320"/>
          </a:xfrm>
          <a:prstGeom prst="rect">
            <a:avLst/>
          </a:prstGeom>
          <a:solidFill>
            <a:srgbClr val="3D8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81928" y="2439416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1112" y="2414016"/>
            <a:ext cx="5029200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B0BEC5"/>
                </a:solidFill>
              </a:rPr>
              <a:t>Find and implement digital HR solutions proactively.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81928" y="2933192"/>
            <a:ext cx="256032" cy="274320"/>
          </a:xfrm>
          <a:prstGeom prst="rect">
            <a:avLst/>
          </a:prstGeom>
          <a:solidFill>
            <a:srgbClr val="3D8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81928" y="2933192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1112" y="2907792"/>
            <a:ext cx="5029200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B0BEC5"/>
                </a:solidFill>
              </a:rPr>
              <a:t>Built Attendance Dashboard with continuous enhancements over 4 versions.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81928" y="3426968"/>
            <a:ext cx="256032" cy="274320"/>
          </a:xfrm>
          <a:prstGeom prst="rect">
            <a:avLst/>
          </a:prstGeom>
          <a:solidFill>
            <a:srgbClr val="3D8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81928" y="3426968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11112" y="3401568"/>
            <a:ext cx="5029200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100" b="1" dirty="0">
                <a:solidFill>
                  <a:srgbClr val="F5C430"/>
                </a:solidFill>
                <a:latin typeface="Calibri"/>
              </a:rPr>
              <a:t>Noticeably reduced manual efforts with full visibility on the team attendance on daily basis</a:t>
            </a:r>
            <a:endParaRPr sz="1100" b="1" dirty="0">
              <a:solidFill>
                <a:srgbClr val="F5C430"/>
              </a:solidFill>
              <a:latin typeface="Calibr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65760" y="4069080"/>
            <a:ext cx="5577840" cy="2468880"/>
          </a:xfrm>
          <a:prstGeom prst="rect">
            <a:avLst/>
          </a:prstGeom>
          <a:solidFill>
            <a:srgbClr val="162044"/>
          </a:solidFill>
          <a:ln w="190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65760" y="4069080"/>
            <a:ext cx="5577840" cy="38404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4132580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Passion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88" y="4551680"/>
            <a:ext cx="256032" cy="2743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75488" y="4551680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" y="4526280"/>
            <a:ext cx="5029200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100" b="1" dirty="0">
                <a:solidFill>
                  <a:srgbClr val="B0BEC5"/>
                </a:solidFill>
                <a:latin typeface="Calibri"/>
              </a:rPr>
              <a:t>Needed Engagement tools for event considering the tight schedule and limited budget.</a:t>
            </a:r>
            <a:endParaRPr sz="1100" b="1" dirty="0">
              <a:solidFill>
                <a:srgbClr val="B0BEC5"/>
              </a:solidFill>
              <a:latin typeface="Calibr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75488" y="5045456"/>
            <a:ext cx="256032" cy="2743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75488" y="5045456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" y="5020056"/>
            <a:ext cx="5029200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100" b="1" dirty="0">
                <a:solidFill>
                  <a:srgbClr val="B0BEC5"/>
                </a:solidFill>
                <a:latin typeface="Calibri"/>
              </a:rPr>
              <a:t>Find a solution for the Engagement quiz and Lucky Draw.</a:t>
            </a:r>
            <a:endParaRPr sz="1100" b="1" dirty="0">
              <a:solidFill>
                <a:srgbClr val="B0BEC5"/>
              </a:solidFill>
              <a:latin typeface="Calibri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75488" y="5539232"/>
            <a:ext cx="256032" cy="2743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75488" y="5539232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" y="5513832"/>
            <a:ext cx="5029200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100" b="1" dirty="0">
                <a:solidFill>
                  <a:srgbClr val="B0BEC5"/>
                </a:solidFill>
                <a:latin typeface="Calibri"/>
              </a:rPr>
              <a:t>Built 51Talk Live Quiz tool &amp; Lucky Draw tool</a:t>
            </a:r>
            <a:endParaRPr sz="1100" b="1" dirty="0">
              <a:solidFill>
                <a:srgbClr val="B0BEC5"/>
              </a:solidFill>
              <a:latin typeface="Calibri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75488" y="6033008"/>
            <a:ext cx="256032" cy="2743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75488" y="6033008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" y="6007608"/>
            <a:ext cx="5029200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100" b="1" dirty="0">
                <a:solidFill>
                  <a:srgbClr val="F5C430"/>
                </a:solidFill>
                <a:latin typeface="Calibri"/>
              </a:rPr>
              <a:t>Have the issues resolved at zero cost</a:t>
            </a:r>
            <a:endParaRPr sz="1100" b="1" dirty="0">
              <a:solidFill>
                <a:srgbClr val="F5C430"/>
              </a:solidFill>
              <a:latin typeface="Calibri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172200" y="4069080"/>
            <a:ext cx="5577840" cy="2468880"/>
          </a:xfrm>
          <a:prstGeom prst="rect">
            <a:avLst/>
          </a:prstGeom>
          <a:solidFill>
            <a:srgbClr val="162044"/>
          </a:solidFill>
          <a:ln w="19050">
            <a:solidFill>
              <a:srgbClr val="F5C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172200" y="4069080"/>
            <a:ext cx="5577840" cy="384048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09360" y="4132580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Teamwork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81928" y="4551680"/>
            <a:ext cx="256032" cy="274320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81928" y="4551680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11112" y="4526280"/>
            <a:ext cx="5029200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100" b="1" dirty="0">
                <a:solidFill>
                  <a:srgbClr val="B0BEC5"/>
                </a:solidFill>
                <a:latin typeface="Calibri"/>
              </a:rPr>
              <a:t>TA Team was spending a lot of time making sure of re-hire cases.</a:t>
            </a:r>
            <a:endParaRPr sz="1100" b="1" dirty="0">
              <a:solidFill>
                <a:srgbClr val="B0BEC5"/>
              </a:solidFill>
              <a:latin typeface="Calibri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6281928" y="5045456"/>
            <a:ext cx="256032" cy="274320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281928" y="5045456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11112" y="5020056"/>
            <a:ext cx="5029200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100" b="1" dirty="0">
                <a:solidFill>
                  <a:srgbClr val="B0BEC5"/>
                </a:solidFill>
                <a:latin typeface="Calibri"/>
              </a:rPr>
              <a:t>Find a solution to support them while saving their time &amp; allowing them to work independently </a:t>
            </a:r>
            <a:endParaRPr sz="1100" b="1" dirty="0">
              <a:solidFill>
                <a:srgbClr val="B0BEC5"/>
              </a:solidFill>
              <a:latin typeface="Calibri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281928" y="5539232"/>
            <a:ext cx="256032" cy="274320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281928" y="5539232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11112" y="5513832"/>
            <a:ext cx="5029200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100" b="1" dirty="0">
                <a:solidFill>
                  <a:srgbClr val="B0BEC5"/>
                </a:solidFill>
                <a:latin typeface="Calibri"/>
              </a:rPr>
              <a:t>Built Employee lookup tool.</a:t>
            </a:r>
            <a:endParaRPr sz="1100" b="1" dirty="0">
              <a:solidFill>
                <a:srgbClr val="B0BEC5"/>
              </a:solidFill>
              <a:latin typeface="Calibri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281928" y="6033008"/>
            <a:ext cx="256032" cy="274320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281928" y="6033008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11112" y="6007608"/>
            <a:ext cx="5029200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100" b="1" dirty="0">
                <a:solidFill>
                  <a:srgbClr val="F5C430"/>
                </a:solidFill>
                <a:latin typeface="Calibri"/>
              </a:rPr>
              <a:t>Allow them to have immediate access to check each candidate status!</a:t>
            </a:r>
            <a:endParaRPr sz="1100" b="1" dirty="0">
              <a:solidFill>
                <a:srgbClr val="F5C430"/>
              </a:solidFill>
              <a:latin typeface="Calibri"/>
            </a:endParaRP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2AA4A14A-8DBE-2EB1-09EE-C6491636F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5933" y="205308"/>
            <a:ext cx="968134" cy="9357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C430"/>
                </a:solidFill>
                <a:latin typeface="Calibri"/>
              </a:rPr>
              <a:t>04  /  Gains, Losses &amp;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55399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FFFFFF"/>
                </a:solidFill>
                <a:latin typeface="Calibri"/>
              </a:rPr>
              <a:t>Looking Back —Self-Assessment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11274552" cy="38100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486400" cy="5166360"/>
          </a:xfrm>
          <a:prstGeom prst="rect">
            <a:avLst/>
          </a:prstGeom>
          <a:solidFill>
            <a:srgbClr val="162044"/>
          </a:solidFill>
          <a:ln w="190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486400" cy="38404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✓  What I Gained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512064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43A047"/>
                </a:solidFill>
                <a:latin typeface="Calibri"/>
              </a:rPr>
              <a:t>▸  Built team-scale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512064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Calibri"/>
              </a:rPr>
              <a:t>   Focused on tools that support the entire HR team, not just individual tasks.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512064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3A047"/>
                </a:solidFill>
                <a:latin typeface="Calibri"/>
              </a:rPr>
              <a:t>▸  Deepened industry expertise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27248"/>
            <a:ext cx="5120640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Calibri"/>
              </a:rPr>
              <a:t>   Gained strong understanding of EdTech HR operations and 51Talk's business model.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75888"/>
            <a:ext cx="512064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3A047"/>
                </a:solidFill>
                <a:latin typeface="Calibri"/>
              </a:rPr>
              <a:t>▸  Started learning Chinese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68496"/>
            <a:ext cx="512064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Calibri"/>
              </a:rPr>
              <a:t>   Investing in language skills to connect with the broader 51Talk organization.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17136"/>
            <a:ext cx="512064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3A047"/>
                </a:solidFill>
                <a:latin typeface="Calibri"/>
              </a:rPr>
              <a:t>▸  Advanced AI &amp; automation 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09744"/>
            <a:ext cx="512064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Calibri"/>
              </a:rPr>
              <a:t>   Leveraged AI tools to modernize HR workflows and build scalable systems.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463040"/>
            <a:ext cx="5577840" cy="5166360"/>
          </a:xfrm>
          <a:prstGeom prst="rect">
            <a:avLst/>
          </a:prstGeom>
          <a:solidFill>
            <a:srgbClr val="162044"/>
          </a:solidFill>
          <a:ln w="19050">
            <a:solidFill>
              <a:srgbClr val="F5C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463040"/>
            <a:ext cx="5577840" cy="384048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150876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5C"/>
                </a:solidFill>
                <a:latin typeface="Calibri"/>
              </a:rPr>
              <a:t>⟳  What I'd Do Differently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93392"/>
            <a:ext cx="530352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5C430"/>
                </a:solidFill>
                <a:latin typeface="Calibri"/>
              </a:rPr>
              <a:t>▸  </a:t>
            </a:r>
            <a:r>
              <a:rPr lang="en-US" sz="1400" b="1" dirty="0">
                <a:solidFill>
                  <a:srgbClr val="F5C430"/>
                </a:solidFill>
                <a:latin typeface="Calibri"/>
              </a:rPr>
              <a:t>Accelerate knowledge acquisition</a:t>
            </a:r>
            <a:endParaRPr sz="1400" b="1" dirty="0">
              <a:solidFill>
                <a:srgbClr val="F5C430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0" y="2286000"/>
            <a:ext cx="5303520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Calibri"/>
              </a:rPr>
              <a:t>   I'd use a more structured approach to ramp up faster on systems, processes, and people.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862072"/>
            <a:ext cx="530352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5C430"/>
                </a:solidFill>
                <a:latin typeface="Calibri"/>
              </a:rPr>
              <a:t>▸  </a:t>
            </a:r>
            <a:r>
              <a:rPr lang="en-US" sz="1400" b="1" dirty="0">
                <a:solidFill>
                  <a:srgbClr val="F5C430"/>
                </a:solidFill>
                <a:latin typeface="Calibri"/>
              </a:rPr>
              <a:t>Spend More time in communications</a:t>
            </a:r>
            <a:endParaRPr sz="1400" b="1" dirty="0">
              <a:solidFill>
                <a:srgbClr val="F5C430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0" y="3154680"/>
            <a:ext cx="5303520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Calibri"/>
              </a:rPr>
              <a:t>   I'd prioritize more frequent check-ins and proactive communication from day one.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532626"/>
            <a:ext cx="530352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5C430"/>
                </a:solidFill>
                <a:latin typeface="Calibri"/>
              </a:rPr>
              <a:t>▸  Invest more in Chinese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825234"/>
            <a:ext cx="5303520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Calibri"/>
              </a:rPr>
              <a:t>   Language learning is a priority I want to pursue more consistently going forward.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7DE7CD0-242D-AB75-98EB-4840281C1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5933" y="205308"/>
            <a:ext cx="968134" cy="9357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C430"/>
                </a:solidFill>
                <a:latin typeface="Calibri"/>
              </a:rPr>
              <a:t>05  /  Next Stage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6583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Looking Forward — Priorities &amp; Support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11274552" cy="38100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C430"/>
                </a:solidFill>
                <a:latin typeface="Calibri"/>
              </a:rPr>
              <a:t>Next Stage Priorities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45640"/>
            <a:ext cx="320040" cy="320040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/>
          </a:p>
        </p:txBody>
      </p:sp>
      <p:sp>
        <p:nvSpPr>
          <p:cNvPr id="7" name="TextBox 6"/>
          <p:cNvSpPr txBox="1"/>
          <p:nvPr/>
        </p:nvSpPr>
        <p:spPr>
          <a:xfrm>
            <a:off x="457200" y="1945640"/>
            <a:ext cx="32004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2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640080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Complete iTalent ESS Portal Rollout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21992"/>
            <a:ext cx="6400800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0BEC5"/>
                </a:solidFill>
                <a:latin typeface="Calibri"/>
              </a:rPr>
              <a:t>Finalize configuration, run CC Team pilot, and transition the full company to digital leave management.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68600"/>
            <a:ext cx="320040" cy="320040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/>
          </a:p>
        </p:txBody>
      </p:sp>
      <p:sp>
        <p:nvSpPr>
          <p:cNvPr id="11" name="TextBox 10"/>
          <p:cNvSpPr txBox="1"/>
          <p:nvPr/>
        </p:nvSpPr>
        <p:spPr>
          <a:xfrm>
            <a:off x="457200" y="2768600"/>
            <a:ext cx="32004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2A5C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640080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HR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44952"/>
            <a:ext cx="6400800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0BEC5"/>
                </a:solidFill>
                <a:latin typeface="Calibri"/>
              </a:rPr>
              <a:t>Build comprehensive HR analytics reporting covering turnover, headcount, attendance, and performance trends.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91560"/>
            <a:ext cx="320040" cy="320040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/>
          </a:p>
        </p:txBody>
      </p:sp>
      <p:sp>
        <p:nvSpPr>
          <p:cNvPr id="15" name="TextBox 14"/>
          <p:cNvSpPr txBox="1"/>
          <p:nvPr/>
        </p:nvSpPr>
        <p:spPr>
          <a:xfrm>
            <a:off x="457200" y="3591560"/>
            <a:ext cx="32004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2A5C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566160"/>
            <a:ext cx="640080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AI &amp; Data Projects for HR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67912"/>
            <a:ext cx="6400800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0BEC5"/>
                </a:solidFill>
                <a:latin typeface="Calibri"/>
              </a:rPr>
              <a:t>Expand automation — smarter leave processing, predictive analytics, automated reporting, and intelligent HR workflows.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14520"/>
            <a:ext cx="320040" cy="320040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/>
          </a:p>
        </p:txBody>
      </p:sp>
      <p:sp>
        <p:nvSpPr>
          <p:cNvPr id="19" name="TextBox 18"/>
          <p:cNvSpPr txBox="1"/>
          <p:nvPr/>
        </p:nvSpPr>
        <p:spPr>
          <a:xfrm>
            <a:off x="457200" y="4414520"/>
            <a:ext cx="32004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2A5C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89120"/>
            <a:ext cx="640080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Continue Learning Chinese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90872"/>
            <a:ext cx="6400800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0BEC5"/>
                </a:solidFill>
                <a:latin typeface="Calibri"/>
              </a:rPr>
              <a:t>Invest consistently in language learning to strengthen collaboration with the broader 51Talk organization.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0" y="1417320"/>
            <a:ext cx="4069080" cy="5212080"/>
          </a:xfrm>
          <a:prstGeom prst="rect">
            <a:avLst/>
          </a:prstGeom>
          <a:solidFill>
            <a:srgbClr val="162044"/>
          </a:solidFill>
          <a:ln w="19050">
            <a:solidFill>
              <a:srgbClr val="F5C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818120" y="1417320"/>
            <a:ext cx="4069080" cy="384048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79" y="1463040"/>
            <a:ext cx="3749039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5C"/>
                </a:solidFill>
                <a:latin typeface="Calibri"/>
              </a:rPr>
              <a:t>Support Needed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1965960"/>
            <a:ext cx="374903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5C430"/>
                </a:solidFill>
                <a:latin typeface="Calibri"/>
              </a:rPr>
              <a:t>▸  AI —</a:t>
            </a:r>
            <a:r>
              <a:rPr lang="en-US" sz="1400" b="1" dirty="0">
                <a:solidFill>
                  <a:srgbClr val="F5C430"/>
                </a:solidFill>
                <a:latin typeface="Calibri"/>
              </a:rPr>
              <a:t> </a:t>
            </a:r>
            <a:r>
              <a:rPr sz="1400" b="1" dirty="0">
                <a:solidFill>
                  <a:srgbClr val="F5C430"/>
                </a:solidFill>
                <a:latin typeface="Calibri"/>
              </a:rPr>
              <a:t>Subscription</a:t>
            </a:r>
            <a:r>
              <a:rPr lang="en-US" sz="1400" b="1" dirty="0">
                <a:solidFill>
                  <a:srgbClr val="F5C430"/>
                </a:solidFill>
                <a:latin typeface="Calibri"/>
              </a:rPr>
              <a:t> Upgrade</a:t>
            </a:r>
            <a:endParaRPr sz="1400" b="1" dirty="0">
              <a:solidFill>
                <a:srgbClr val="F5C430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955279" y="2295144"/>
            <a:ext cx="3749039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Calibri"/>
              </a:rPr>
              <a:t>Required to continue building and scaling HR automation and AI projects that benefit the entire HR department</a:t>
            </a:r>
            <a:r>
              <a:rPr lang="en-US" sz="1200" b="1" dirty="0">
                <a:solidFill>
                  <a:schemeClr val="bg1"/>
                </a:solidFill>
                <a:latin typeface="Calibri"/>
              </a:rPr>
              <a:t>. Will need to upgrade my subscription to Max Plan with 100$/month</a:t>
            </a:r>
            <a:endParaRPr sz="12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955279" y="3291840"/>
            <a:ext cx="374903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5C430"/>
                </a:solidFill>
                <a:latin typeface="Calibri"/>
              </a:rPr>
              <a:t>▸  </a:t>
            </a:r>
            <a:r>
              <a:rPr lang="en-US" sz="1400" b="1" dirty="0">
                <a:solidFill>
                  <a:srgbClr val="F5C430"/>
                </a:solidFill>
                <a:latin typeface="Calibri"/>
              </a:rPr>
              <a:t>Business Laptop Upgrade</a:t>
            </a:r>
            <a:endParaRPr sz="1400" b="1" dirty="0">
              <a:solidFill>
                <a:srgbClr val="F5C430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955279" y="3621024"/>
            <a:ext cx="3749039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200" b="1" dirty="0">
                <a:solidFill>
                  <a:schemeClr val="bg1"/>
                </a:solidFill>
                <a:latin typeface="Calibri"/>
              </a:rPr>
              <a:t>Upgrading the laptop RAM with extra 32GB will accelerate the processes and make things smoother.</a:t>
            </a:r>
            <a:endParaRPr sz="1200" b="1" dirty="0">
              <a:solidFill>
                <a:schemeClr val="bg1"/>
              </a:solidFill>
              <a:latin typeface="Calibri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4B5C9DD-8F8E-03B0-C7AC-65C84AA70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5933" y="205308"/>
            <a:ext cx="968134" cy="9357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01200" y="607161"/>
            <a:ext cx="365760" cy="65836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751161" y="457200"/>
            <a:ext cx="65836" cy="365760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155680" y="1465326"/>
            <a:ext cx="228600" cy="41148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249406" y="1371600"/>
            <a:ext cx="41148" cy="228600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241280" y="2627802"/>
            <a:ext cx="164592" cy="29626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308762" y="2560320"/>
            <a:ext cx="29626" cy="164592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996878"/>
            <a:ext cx="201168" cy="36210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8238" y="914400"/>
            <a:ext cx="36210" cy="201168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45920" y="6011082"/>
            <a:ext cx="164592" cy="29626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713402" y="5943600"/>
            <a:ext cx="29626" cy="164592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612880" y="5408493"/>
            <a:ext cx="256032" cy="46085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717853" y="5303520"/>
            <a:ext cx="46085" cy="256032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961120" y="731520"/>
            <a:ext cx="3840480" cy="3840480"/>
          </a:xfrm>
          <a:prstGeom prst="ellipse">
            <a:avLst/>
          </a:prstGeom>
          <a:solidFill>
            <a:srgbClr val="162044"/>
          </a:solidFill>
          <a:ln w="25400">
            <a:solidFill>
              <a:srgbClr val="F5C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29000"/>
            <a:ext cx="5029200" cy="38100"/>
          </a:xfrm>
          <a:prstGeom prst="rect">
            <a:avLst/>
          </a:prstGeom>
          <a:solidFill>
            <a:srgbClr val="F5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703320"/>
            <a:ext cx="8229600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B0BEC5"/>
                </a:solidFill>
                <a:latin typeface="Calibri"/>
              </a:rPr>
              <a:t>Ahmed </a:t>
            </a:r>
            <a:r>
              <a:rPr lang="en-US" sz="1600" dirty="0">
                <a:solidFill>
                  <a:srgbClr val="B0BEC5"/>
                </a:solidFill>
                <a:latin typeface="Calibri"/>
              </a:rPr>
              <a:t>Elsadek</a:t>
            </a:r>
            <a:r>
              <a:rPr sz="1600" b="0" dirty="0">
                <a:solidFill>
                  <a:srgbClr val="B0BEC5"/>
                </a:solidFill>
                <a:latin typeface="Calibri"/>
              </a:rPr>
              <a:t>  |  HR Business Partner  |  51Talk Egypt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519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C430"/>
                </a:solidFill>
                <a:latin typeface="Calibri"/>
              </a:rPr>
              <a:t>Open for questions &amp; discussion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309360"/>
            <a:ext cx="2286000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100" b="1" dirty="0">
                <a:solidFill>
                  <a:srgbClr val="F5C430"/>
                </a:solidFill>
                <a:latin typeface="Calibri"/>
              </a:rPr>
              <a:t>51Talk Egypt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BAE059D-C9E5-99A9-33CA-77B4FE485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7311" y="1485468"/>
            <a:ext cx="2224134" cy="214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938</Words>
  <Application>Microsoft Office PowerPoint</Application>
  <PresentationFormat>Custom</PresentationFormat>
  <Paragraphs>142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a25014</cp:lastModifiedBy>
  <cp:revision>9</cp:revision>
  <dcterms:created xsi:type="dcterms:W3CDTF">2013-01-27T09:14:16Z</dcterms:created>
  <dcterms:modified xsi:type="dcterms:W3CDTF">2026-03-10T11:39:42Z</dcterms:modified>
  <cp:category/>
</cp:coreProperties>
</file>