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28600"/>
          <a:lstStyle/>
          <a:p>
            <a:pPr algn="l"/>
            <a:r>
              <a:rPr b="1" sz="220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56A8"/>
                </a:solidFill>
              </a:rPr>
              <a:t>iTalent Execution &amp; Rollout Plan</a:t>
            </a:r>
          </a:p>
          <a:p>
            <a:pPr algn="ctr"/>
            <a:r>
              <a:rPr sz="1400">
                <a:solidFill>
                  <a:srgbClr val="5A5A5A"/>
                </a:solidFill>
              </a:rPr>
              <a:t>51Talk Egypt  ·  HRBP: Ahmed Elsadek  ·  March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4114800"/>
            <a:ext cx="6400800" cy="4572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5A5A5A"/>
                </a:solidFill>
              </a:rPr>
              <a:t>Transitioning 51Talk Egypt leave management from email to iTalent ESS 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28600"/>
          <a:lstStyle/>
          <a:p>
            <a:pPr algn="l"/>
            <a:r>
              <a:rPr b="1" sz="2200">
                <a:solidFill>
                  <a:srgbClr val="FFFFFF"/>
                </a:solidFill>
              </a:rPr>
              <a:t>Guiding Principles</a:t>
            </a:r>
          </a:p>
          <a:p>
            <a:pPr algn="l"/>
            <a:r>
              <a:rPr sz="1100">
                <a:solidFill>
                  <a:srgbClr val="CCE0FF"/>
                </a:solidFill>
              </a:rPr>
              <a:t>Four principles to ensure a safe transition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5486400" cy="2011680"/>
          </a:xfrm>
          <a:prstGeom prst="rect">
            <a:avLst/>
          </a:prstGeom>
          <a:solidFill>
            <a:srgbClr val="F0F6FF"/>
          </a:solidFill>
          <a:ln>
            <a:solidFill>
              <a:srgbClr val="00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0056A8"/>
                </a:solidFill>
              </a:rPr>
              <a:t>🚫 No Big Bang</a:t>
            </a:r>
          </a:p>
          <a:p>
            <a:r>
              <a:rPr sz="1100">
                <a:solidFill>
                  <a:srgbClr val="5A5A5A"/>
                </a:solidFill>
              </a:rPr>
              <a:t>Pilot first, fix issues, then expand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371600"/>
            <a:ext cx="5486400" cy="2011680"/>
          </a:xfrm>
          <a:prstGeom prst="rect">
            <a:avLst/>
          </a:prstGeom>
          <a:solidFill>
            <a:srgbClr val="F0F6FF"/>
          </a:solidFill>
          <a:ln>
            <a:solidFill>
              <a:srgbClr val="00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0056A8"/>
                </a:solidFill>
              </a:rPr>
              <a:t>📂 No Data Loss</a:t>
            </a:r>
          </a:p>
          <a:p>
            <a:r>
              <a:rPr sz="1100">
                <a:solidFill>
                  <a:srgbClr val="5A5A5A"/>
                </a:solidFill>
              </a:rPr>
              <a:t>All historical leave balances imported before go-live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5486400" cy="2011680"/>
          </a:xfrm>
          <a:prstGeom prst="rect">
            <a:avLst/>
          </a:prstGeom>
          <a:solidFill>
            <a:srgbClr val="F0F6FF"/>
          </a:solidFill>
          <a:ln>
            <a:solidFill>
              <a:srgbClr val="00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0056A8"/>
                </a:solidFill>
              </a:rPr>
              <a:t>⚡ No Disruption</a:t>
            </a:r>
          </a:p>
          <a:p>
            <a:r>
              <a:rPr sz="1100">
                <a:solidFill>
                  <a:srgbClr val="5A5A5A"/>
                </a:solidFill>
              </a:rPr>
              <a:t>Parallel run ensures no employee is left without a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3657600"/>
            <a:ext cx="5486400" cy="2011680"/>
          </a:xfrm>
          <a:prstGeom prst="rect">
            <a:avLst/>
          </a:prstGeom>
          <a:solidFill>
            <a:srgbClr val="F0F6FF"/>
          </a:solidFill>
          <a:ln>
            <a:solidFill>
              <a:srgbClr val="00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0056A8"/>
                </a:solidFill>
              </a:rPr>
              <a:t>🔔 No Surprises</a:t>
            </a:r>
          </a:p>
          <a:p>
            <a:r>
              <a:rPr sz="1100">
                <a:solidFill>
                  <a:srgbClr val="5A5A5A"/>
                </a:solidFill>
              </a:rPr>
              <a:t>Employees and managers trained before they see the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28600"/>
          <a:lstStyle/>
          <a:p>
            <a:pPr algn="l"/>
            <a:r>
              <a:rPr b="1" sz="2200">
                <a:solidFill>
                  <a:srgbClr val="FFFFFF"/>
                </a:solidFill>
              </a:rPr>
              <a:t>6-Week Rollout Timeline</a:t>
            </a:r>
          </a:p>
          <a:p>
            <a:pPr algn="l"/>
            <a:r>
              <a:rPr sz="1100">
                <a:solidFill>
                  <a:srgbClr val="CCE0FF"/>
                </a:solidFill>
              </a:rPr>
              <a:t>Phased, low-risk approach from configuration to full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371600"/>
            <a:ext cx="1737360" cy="32004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Week 1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Configure &amp;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2212848" y="1371600"/>
            <a:ext cx="1737360" cy="3200400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Week 2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Integrate &amp; Notify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4059936" y="1371600"/>
            <a:ext cx="1737360" cy="3200400"/>
          </a:xfrm>
          <a:prstGeom prst="rect">
            <a:avLst/>
          </a:prstGeom>
          <a:solidFill>
            <a:srgbClr val="00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Week 3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Pilot Go-Live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07024" y="1371600"/>
            <a:ext cx="1737360" cy="3200400"/>
          </a:xfrm>
          <a:prstGeom prst="rect">
            <a:avLst/>
          </a:prstGeom>
          <a:solidFill>
            <a:srgbClr val="E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Week 4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Evaluate &amp; Fix</a:t>
            </a:r>
          </a:p>
        </p:txBody>
      </p:sp>
      <p:sp>
        <p:nvSpPr>
          <p:cNvPr id="7" name="Rectangle 6"/>
          <p:cNvSpPr/>
          <p:nvPr/>
        </p:nvSpPr>
        <p:spPr>
          <a:xfrm>
            <a:off x="7754112" y="1371600"/>
            <a:ext cx="1737360" cy="320040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Week 5–6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Full Rollout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371600"/>
            <a:ext cx="1737360" cy="32004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Month 2+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743200"/>
            <a:ext cx="11612880" cy="7315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28600"/>
          <a:lstStyle/>
          <a:p>
            <a:pPr algn="l"/>
            <a:r>
              <a:rPr b="1" sz="2200">
                <a:solidFill>
                  <a:srgbClr val="FFFFFF"/>
                </a:solidFill>
              </a:rPr>
              <a:t>Stage 0: Prerequisites  (2–3 Days)</a:t>
            </a:r>
          </a:p>
          <a:p>
            <a:pPr algn="l"/>
            <a:r>
              <a:rPr sz="1100">
                <a:solidFill>
                  <a:srgbClr val="CCE0FF"/>
                </a:solidFill>
              </a:rPr>
              <a:t>Must complete before any configuration begins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2999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3529"/>
                <a:gridCol w="2689411"/>
                <a:gridCol w="2017058"/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900"/>
                        <a:t>Confirm iTalent admin access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HRBP + IT Admin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2–3 days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900"/>
                        <a:t>Export employee master data from Attendance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HRBP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Day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900"/>
                        <a:t>Collect org chart / reporting lines for all teams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HRBP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Day 1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900"/>
                        <a:t>Pilot department confirmed: CC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Management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900"/>
                        <a:t>Get manager email list for approval chain setup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HRBP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Day 2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r>
                        <a:rPr sz="900"/>
                        <a:t>Backup current leave sheet used in Attendance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HRBP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Day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2976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/>
              <a:t>🚨  Admin access is on the critical path — every day of delay pushes pilot and rollout back by 1 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28600"/>
          <a:lstStyle/>
          <a:p>
            <a:pPr algn="l"/>
            <a:r>
              <a:rPr b="1" sz="2200">
                <a:solidFill>
                  <a:srgbClr val="FFFFFF"/>
                </a:solidFill>
              </a:rPr>
              <a:t>Stage 1A: Fix Leave Types  (Day 1–2)</a:t>
            </a:r>
          </a:p>
          <a:p>
            <a:pPr algn="l"/>
            <a:r>
              <a:rPr sz="1100">
                <a:solidFill>
                  <a:srgbClr val="CCE0FF"/>
                </a:solidFill>
              </a:rPr>
              <a:t>Rename placeholders, set entitlements, fix UI typos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299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9473"/>
                <a:gridCol w="4211052"/>
                <a:gridCol w="3609473"/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In iTalent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Expected Result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900"/>
                        <a:t>Rename "Leave Item 6"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Admin → Attendance → Leave Config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Name becomes "Casual Leave"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900"/>
                        <a:t>Rename "Leave Item 34"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Admin → Attendance → Leave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Name becomes "Marriage Leave"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900"/>
                        <a:t>Fix "Leave Applictaion" typo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Admin → Menu Config (2 locations)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Correct spelling in sidebar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900"/>
                        <a:t>Set Annual Leave entitlement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Leave Config → Annual Leave → Balance 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15 days (&lt;1yr) / 21 days (≥1yr)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900"/>
                        <a:t>Set Sick Leave pay rate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Leave Config → Sick Leave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75% salary, attachment required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900"/>
                        <a:t>Set Maternity Leave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Leave Config → Maternity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120 days, 1yr service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900"/>
                        <a:t>Set Paternity Leave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Leave Config → Paternity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 occurrences max, 1 day each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900"/>
                        <a:t>Set Unpaid Leave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Leave Config → Unpaid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No limit, dual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28600"/>
          <a:lstStyle/>
          <a:p>
            <a:pPr algn="l"/>
            <a:r>
              <a:rPr b="1" sz="2200">
                <a:solidFill>
                  <a:srgbClr val="FFFFFF"/>
                </a:solidFill>
              </a:rPr>
              <a:t>Stage 1B: Approval Workflows  (Day 2–3)</a:t>
            </a:r>
          </a:p>
          <a:p>
            <a:pPr algn="l"/>
            <a:r>
              <a:rPr sz="1100">
                <a:solidFill>
                  <a:srgbClr val="CCE0FF"/>
                </a:solidFill>
              </a:rPr>
              <a:t>Three workflow templates covering all leave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371600"/>
            <a:ext cx="3749039" cy="36576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Workflow A
"Single Approval"</a:t>
            </a:r>
          </a:p>
          <a:p>
            <a:pPr algn="ctr"/>
            <a:r>
              <a:rPr sz="1100">
                <a:solidFill>
                  <a:srgbClr val="CCE8FF"/>
                </a:solidFill>
              </a:rPr>
              <a:t>Manager Only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
Leave Types:
Casual Leave
Paternity
Bereavement
Business Trips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1371600"/>
            <a:ext cx="3749039" cy="3657600"/>
          </a:xfrm>
          <a:prstGeom prst="rect">
            <a:avLst/>
          </a:prstGeom>
          <a:solidFill>
            <a:srgbClr val="00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Workflow B
"HR Reviewed"</a:t>
            </a:r>
          </a:p>
          <a:p>
            <a:pPr algn="ctr"/>
            <a:r>
              <a:rPr sz="1100">
                <a:solidFill>
                  <a:srgbClr val="CCE8FF"/>
                </a:solidFill>
              </a:rPr>
              <a:t>Manager → HR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
Leave Types:
Sick Leave
Maternity
Marriage
Miscarriage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371600"/>
            <a:ext cx="3749039" cy="3657600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Workflow C
"Full Chain"</a:t>
            </a:r>
          </a:p>
          <a:p>
            <a:pPr algn="ctr"/>
            <a:r>
              <a:rPr sz="1100">
                <a:solidFill>
                  <a:srgbClr val="CCE8FF"/>
                </a:solidFill>
              </a:rPr>
              <a:t>Manager → Director → HR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
Leave Types:
Annual Leave &gt; 3 days
Unpaid Leave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28600"/>
          <a:lstStyle/>
          <a:p>
            <a:pPr algn="l"/>
            <a:r>
              <a:rPr b="1" sz="2200">
                <a:solidFill>
                  <a:srgbClr val="FFFFFF"/>
                </a:solidFill>
              </a:rPr>
              <a:t>Stage 2: Attendance Dashboard Integration  (Week 2)</a:t>
            </a:r>
          </a:p>
          <a:p>
            <a:pPr algn="l"/>
            <a:r>
              <a:rPr sz="1100">
                <a:solidFill>
                  <a:srgbClr val="CCE0FF"/>
                </a:solidFill>
              </a:rPr>
              <a:t>Connect iTalent leave exports to the Streamlit Attendance Dashboard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00"/>
                <a:gridCol w="6350000"/>
                <a:gridCol w="44450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Configure iTalent leave export (vertical format: CRM | Date | Leave Type | Status)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Export file generates correctly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Export sample approved leaves from iTalent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Approved only, correct date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Import into Attendance Dashboard leave sheet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No import errors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Run Dashboard report — verify penalties correct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 discrepancies vs manual 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Confirm leave code mapping (AL, SL, CL, ML, PL, UL, BL, MAL, MCL)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All codes recognized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Document Monthly SOP for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SOP reviewed and 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754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/>
              <a:t>📅  Export trigger: Manual — HR runs on 21st of each month  |  Format: Excel (.xlsx)  |  Date range: 21st prev → 20th current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28600"/>
          <a:lstStyle/>
          <a:p>
            <a:pPr algn="l"/>
            <a:r>
              <a:rPr b="1" sz="2200">
                <a:solidFill>
                  <a:srgbClr val="FFFFFF"/>
                </a:solidFill>
              </a:rPr>
              <a:t>Stage 3: Employee Data Migration  (Week 2)</a:t>
            </a:r>
          </a:p>
          <a:p>
            <a:pPr algn="l"/>
            <a:r>
              <a:rPr sz="1100">
                <a:solidFill>
                  <a:srgbClr val="CCE0FF"/>
                </a:solidFill>
              </a:rPr>
              <a:t>Import master data and set opening leave balances before any employee logs 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/>
                <a:gridCol w="3175000"/>
                <a:gridCol w="5080000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900"/>
                        <a:t>Employee ID (AC-No / PS ID)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Attendance Dashboard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Must match Dashboard master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900"/>
                        <a:t>CRM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Attendance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Links leave records to attendance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900"/>
                        <a:t>Full Name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Attendance Dashboard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—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900"/>
                        <a:t>Department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Attendance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900"/>
                        <a:t>Join Date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HR records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Critical — drives annual leave entitlement (15 vs 21 days)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900"/>
                        <a:t>Vendor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Attendance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Just HR / Migrate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900"/>
                        <a:t>National ID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HR records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—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900"/>
                        <a:t>Manager / Approver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Org 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Linked to workflow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900"/>
                        <a:t>Email Address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Company directory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Needed for notification delivery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28600"/>
          <a:lstStyle/>
          <a:p>
            <a:pPr algn="l"/>
            <a:r>
              <a:rPr b="1" sz="2200">
                <a:solidFill>
                  <a:srgbClr val="FFFFFF"/>
                </a:solidFill>
              </a:rPr>
              <a:t>Stage 4: Pilot — CC Team  (Week 3)</a:t>
            </a:r>
          </a:p>
          <a:p>
            <a:pPr algn="l"/>
            <a:r>
              <a:rPr sz="1100">
                <a:solidFill>
                  <a:srgbClr val="CCE0FF"/>
                </a:solidFill>
              </a:rPr>
              <a:t>Validate full workflow in real conditions before company-wide rollout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371600"/>
            <a:ext cx="2743200" cy="4114800"/>
          </a:xfrm>
          <a:prstGeom prst="rect">
            <a:avLst/>
          </a:prstGeom>
          <a:solidFill>
            <a:srgbClr val="F0F6FF"/>
          </a:solidFill>
          <a:ln>
            <a:solidFill>
              <a:srgbClr val="00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200" b="1">
                <a:solidFill>
                  <a:srgbClr val="0056A8"/>
                </a:solidFill>
              </a:rPr>
              <a:t>Day 1
Monday</a:t>
            </a:r>
          </a:p>
          <a:p>
            <a:r>
              <a:rPr sz="1000">
                <a:solidFill>
                  <a:srgbClr val="5A5A5A"/>
                </a:solidFill>
              </a:rPr>
              <a:t>• Kickoff</a:t>
            </a:r>
          </a:p>
          <a:p>
            <a:r>
              <a:rPr sz="1000">
                <a:solidFill>
                  <a:srgbClr val="5A5A5A"/>
                </a:solidFill>
              </a:rPr>
              <a:t>• Brief pilot manager</a:t>
            </a:r>
          </a:p>
          <a:p>
            <a:r>
              <a:rPr sz="1000">
                <a:solidFill>
                  <a:srgbClr val="5A5A5A"/>
                </a:solidFill>
              </a:rPr>
              <a:t>• Share employee quick-start guide</a:t>
            </a:r>
          </a:p>
          <a:p>
            <a:r>
              <a:rPr sz="1000">
                <a:solidFill>
                  <a:srgbClr val="5A5A5A"/>
                </a:solidFill>
              </a:rPr>
              <a:t>• Enable CC Team in iTalent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371600"/>
            <a:ext cx="2743200" cy="4114800"/>
          </a:xfrm>
          <a:prstGeom prst="rect">
            <a:avLst/>
          </a:prstGeom>
          <a:solidFill>
            <a:srgbClr val="F0F6FF"/>
          </a:solidFill>
          <a:ln>
            <a:solidFill>
              <a:srgbClr val="00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200" b="1">
                <a:solidFill>
                  <a:srgbClr val="0056A8"/>
                </a:solidFill>
              </a:rPr>
              <a:t>Day 2–3</a:t>
            </a:r>
          </a:p>
          <a:p>
            <a:r>
              <a:rPr sz="1000">
                <a:solidFill>
                  <a:srgbClr val="5A5A5A"/>
                </a:solidFill>
              </a:rPr>
              <a:t>• Live Usage</a:t>
            </a:r>
          </a:p>
          <a:p>
            <a:r>
              <a:rPr sz="1000">
                <a:solidFill>
                  <a:srgbClr val="5A5A5A"/>
                </a:solidFill>
              </a:rPr>
              <a:t>• Employees submit pending leave requests</a:t>
            </a:r>
          </a:p>
          <a:p>
            <a:r>
              <a:rPr sz="1000">
                <a:solidFill>
                  <a:srgbClr val="5A5A5A"/>
                </a:solidFill>
              </a:rPr>
              <a:t>• Manager approves via My Approval</a:t>
            </a:r>
          </a:p>
          <a:p>
            <a:r>
              <a:rPr sz="1000">
                <a:solidFill>
                  <a:srgbClr val="5A5A5A"/>
                </a:solidFill>
              </a:rPr>
              <a:t>• HRBP monitors for issues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2743200" cy="4114800"/>
          </a:xfrm>
          <a:prstGeom prst="rect">
            <a:avLst/>
          </a:prstGeom>
          <a:solidFill>
            <a:srgbClr val="F0F6FF"/>
          </a:solidFill>
          <a:ln>
            <a:solidFill>
              <a:srgbClr val="00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200" b="1">
                <a:solidFill>
                  <a:srgbClr val="0056A8"/>
                </a:solidFill>
              </a:rPr>
              <a:t>Day 4</a:t>
            </a:r>
          </a:p>
          <a:p>
            <a:r>
              <a:rPr sz="1000">
                <a:solidFill>
                  <a:srgbClr val="5A5A5A"/>
                </a:solidFill>
              </a:rPr>
              <a:t>• Mid-Pilot Check</a:t>
            </a:r>
          </a:p>
          <a:p>
            <a:r>
              <a:rPr sz="1000">
                <a:solidFill>
                  <a:srgbClr val="5A5A5A"/>
                </a:solidFill>
              </a:rPr>
              <a:t>• Review all submissions</a:t>
            </a:r>
          </a:p>
          <a:p>
            <a:r>
              <a:rPr sz="1000">
                <a:solidFill>
                  <a:srgbClr val="5A5A5A"/>
                </a:solidFill>
              </a:rPr>
              <a:t>• Verify: notifications, approvals, balances</a:t>
            </a:r>
          </a:p>
          <a:p>
            <a:r>
              <a:rPr sz="1000">
                <a:solidFill>
                  <a:srgbClr val="5A5A5A"/>
                </a:solidFill>
              </a:rPr>
              <a:t>• Fix any issues found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1371600"/>
            <a:ext cx="2743200" cy="4114800"/>
          </a:xfrm>
          <a:prstGeom prst="rect">
            <a:avLst/>
          </a:prstGeom>
          <a:solidFill>
            <a:srgbClr val="F0F6FF"/>
          </a:solidFill>
          <a:ln>
            <a:solidFill>
              <a:srgbClr val="00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200" b="1">
                <a:solidFill>
                  <a:srgbClr val="0056A8"/>
                </a:solidFill>
              </a:rPr>
              <a:t>Day 5
Friday</a:t>
            </a:r>
          </a:p>
          <a:p>
            <a:r>
              <a:rPr sz="1000">
                <a:solidFill>
                  <a:srgbClr val="5A5A5A"/>
                </a:solidFill>
              </a:rPr>
              <a:t>• Pilot Review</a:t>
            </a:r>
          </a:p>
          <a:p>
            <a:r>
              <a:rPr sz="1000">
                <a:solidFill>
                  <a:srgbClr val="5A5A5A"/>
                </a:solidFill>
              </a:rPr>
              <a:t>• Debrief with pilot manager</a:t>
            </a:r>
          </a:p>
          <a:p>
            <a:r>
              <a:rPr sz="1000">
                <a:solidFill>
                  <a:srgbClr val="5A5A5A"/>
                </a:solidFill>
              </a:rPr>
              <a:t>• Document all issues</a:t>
            </a:r>
          </a:p>
          <a:p>
            <a:r>
              <a:rPr sz="1000">
                <a:solidFill>
                  <a:srgbClr val="5A5A5A"/>
                </a:solidFill>
              </a:rPr>
              <a:t>• Go / No-Go decision for full rollout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28600"/>
          <a:lstStyle/>
          <a:p>
            <a:pPr algn="l"/>
            <a:r>
              <a:rPr b="1" sz="2200">
                <a:solidFill>
                  <a:srgbClr val="FFFFFF"/>
                </a:solidFill>
              </a:rPr>
              <a:t>Stage 5 &amp; 6: Fix, Train &amp; Full Rollout  (Week 4–6)</a:t>
            </a:r>
          </a:p>
          <a:p>
            <a:pPr algn="l"/>
            <a:r>
              <a:rPr sz="1100">
                <a:solidFill>
                  <a:srgbClr val="CCE0FF"/>
                </a:solidFill>
              </a:rPr>
              <a:t>Training sessions, parallel run, and cutover from email to iTalent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1270000"/>
                <a:gridCol w="50800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Session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Audience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Manager Training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All team managers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 hour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My Approval, Process Delegation, Batch Approval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Employee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All 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Leave Application, My Attendance, My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HR Operations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HR team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 hour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Monthly export process, balance management, reports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34747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/>
              <a:t>Week 5: Training for all managers (Day 1) → Training for all employees by department (Day 2–3) → Employees begin submitting in iTalent (Day 4–5)</a:t>
            </a:r>
          </a:p>
          <a:p>
            <a:pPr>
              <a:spcBef>
                <a:spcPts val="400"/>
              </a:spcBef>
            </a:pPr>
            <a:r>
              <a:rPr sz="1100"/>
              <a:t>Week 6: Parallel run — employees submit in BOTH email + iTalent. HR approves in both. End of week: compare logs → confirm consistency.</a:t>
            </a:r>
          </a:p>
          <a:p>
            <a:pPr>
              <a:spcBef>
                <a:spcPts val="400"/>
              </a:spcBef>
            </a:pPr>
            <a:r>
              <a:rPr sz="1100"/>
              <a:t>End of Week 6: Email process retired. HR email auto-reply updated. All pending requests migrated to iTalent.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28600"/>
          <a:lstStyle/>
          <a:p>
            <a:pPr algn="l"/>
            <a:r>
              <a:rPr b="1" sz="2200">
                <a:solidFill>
                  <a:srgbClr val="FFFFFF"/>
                </a:solidFill>
              </a:rPr>
              <a:t>Risk Register</a:t>
            </a:r>
          </a:p>
          <a:p>
            <a:pPr algn="l"/>
            <a:r>
              <a:rPr sz="1100">
                <a:solidFill>
                  <a:srgbClr val="CCE0FF"/>
                </a:solidFill>
              </a:rPr>
              <a:t>Known risks and mitigations for a safe transition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2999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2897"/>
                <a:gridCol w="1602336"/>
                <a:gridCol w="1281869"/>
                <a:gridCol w="4272897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Likelihood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/>
                        <a:t>Employees don't know how to use the system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Medium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Training + quick-start guide + HR support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/>
                        <a:t>Manager approval bottleneck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Process Delegation configured; 48hr escalation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/>
                        <a:t>Leave balance errors at import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Medium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Verify 5 sample employees before import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/>
                        <a:t>Dashboard not recognizing iTalent leave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Test export-import before pilot starts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/>
                        <a:t>Employee not in iTalent system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Low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Medium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Full audit of employee list before go-live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/>
                        <a:t>Manager rejects system adoption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Escalate to Director; demo system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/>
                        <a:t>System downtime during critical period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Low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Medium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Backup: revert to email process temporarily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28600"/>
          <a:lstStyle/>
          <a:p>
            <a:pPr algn="l"/>
            <a:r>
              <a:rPr b="1" sz="2200">
                <a:solidFill>
                  <a:srgbClr val="FFFFFF"/>
                </a:solidFill>
              </a:rPr>
              <a:t>Success Metrics &amp; Contact</a:t>
            </a:r>
          </a:p>
          <a:p>
            <a:pPr algn="l"/>
            <a:r>
              <a:rPr sz="1100">
                <a:solidFill>
                  <a:srgbClr val="CCE0FF"/>
                </a:solidFill>
              </a:rPr>
              <a:t>How we measure a successful rollout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500"/>
                <a:gridCol w="2857500"/>
                <a:gridCol w="457200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Measurement</a:t>
                      </a:r>
                    </a:p>
                  </a:txBody>
                  <a:tcPr>
                    <a:solidFill>
                      <a:srgbClr val="0056A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00"/>
                        <a:t>Leave requests via iTalent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100% within 4 weeks of cutover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Count of email requests received after cutover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00"/>
                        <a:t>Approval turnaround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&lt; 24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iTalent approval timestamps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00"/>
                        <a:t>Leave data accuracy in Dashboard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 discrepancies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Compare iTalent export vs old leave sheet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00"/>
                        <a:t>Employee satisfaction with 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&gt; 80%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Short survey after 1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00"/>
                        <a:t>HR time saved on leave admin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&gt; 2 hours/week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HR self-reported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0292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/>
              <a:t>Contact: Ahmed Elsadek | hr.egy@51talk.com  ·  System: 51talk.italent.cn  ·  Based on: 51Talk Egypt Employee Handbook + Attendance Dashboard v2.2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